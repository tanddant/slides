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28575000" cy="28575000"/>
  <p:notesSz cx="6858000" cy="9144000"/>
  <p:embeddedFontLst>
    <p:embeddedFont>
      <p:font typeface="Sora Bold" charset="1" panose="00000000000000000000"/>
      <p:regular r:id="rId41"/>
    </p:embeddedFont>
    <p:embeddedFont>
      <p:font typeface="Sora" charset="1" panose="00000000000000000000"/>
      <p:regular r:id="rId42"/>
    </p:embeddedFont>
    <p:embeddedFont>
      <p:font typeface="Sora Semi-Bold" charset="1" panose="00000000000000000000"/>
      <p:regular r:id="rId43"/>
    </p:embeddedFont>
    <p:embeddedFont>
      <p:font typeface="Etna Sans Serif" charset="1" panose="02000600000000000000"/>
      <p:regular r:id="rId44"/>
    </p:embeddedFont>
    <p:embeddedFont>
      <p:font typeface="Sora Extra-Light" charset="1" panose="00000000000000000000"/>
      <p:regular r:id="rId45"/>
    </p:embeddedFont>
    <p:embeddedFont>
      <p:font typeface="Consolas Bold" charset="1" panose="020B0709020204030204"/>
      <p:regular r:id="rId46"/>
    </p:embeddedFont>
    <p:embeddedFont>
      <p:font typeface="Consolas" charset="1" panose="020B0609020204030204"/>
      <p:regular r:id="rId47"/>
    </p:embeddedFont>
    <p:embeddedFont>
      <p:font typeface="Sora Ultra-Bold" charset="1" panose="00000000000000000000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6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6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VAGc7uKYR5Q.mp4" Type="http://schemas.openxmlformats.org/officeDocument/2006/relationships/video"/><Relationship Id="rId4" Target="../media/VAGc7uKYR5Q.mp4" Type="http://schemas.microsoft.com/office/2007/relationships/media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jpeg" Type="http://schemas.openxmlformats.org/officeDocument/2006/relationships/image"/><Relationship Id="rId6" Target="../media/image5.png" Type="http://schemas.openxmlformats.org/officeDocument/2006/relationships/image"/><Relationship Id="rId7" Target="../media/image14.png" Type="http://schemas.openxmlformats.org/officeDocument/2006/relationships/image"/><Relationship Id="rId8" Target="../media/image15.jpe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https://vtns.io/20260108" TargetMode="External" Type="http://schemas.openxmlformats.org/officeDocument/2006/relationships/hyperlink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5.png" Type="http://schemas.openxmlformats.org/officeDocument/2006/relationships/image"/><Relationship Id="rId12" Target="../media/image14.pn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7.png" Type="http://schemas.openxmlformats.org/officeDocument/2006/relationships/image"/><Relationship Id="rId9" Target="../media/image15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77275" y="6895328"/>
            <a:ext cx="11270841" cy="14784344"/>
          </a:xfrm>
          <a:custGeom>
            <a:avLst/>
            <a:gdLst/>
            <a:ahLst/>
            <a:cxnLst/>
            <a:rect r="r" b="b" t="t" l="l"/>
            <a:pathLst>
              <a:path h="14784344" w="11270841">
                <a:moveTo>
                  <a:pt x="0" y="0"/>
                </a:moveTo>
                <a:lnTo>
                  <a:pt x="11270842" y="0"/>
                </a:lnTo>
                <a:lnTo>
                  <a:pt x="11270842" y="14784344"/>
                </a:lnTo>
                <a:lnTo>
                  <a:pt x="0" y="14784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3530" y="7099077"/>
            <a:ext cx="5644928" cy="2257971"/>
          </a:xfrm>
          <a:custGeom>
            <a:avLst/>
            <a:gdLst/>
            <a:ahLst/>
            <a:cxnLst/>
            <a:rect r="r" b="b" t="t" l="l"/>
            <a:pathLst>
              <a:path h="2257971" w="5644928">
                <a:moveTo>
                  <a:pt x="0" y="0"/>
                </a:moveTo>
                <a:lnTo>
                  <a:pt x="5644928" y="0"/>
                </a:lnTo>
                <a:lnTo>
                  <a:pt x="5644928" y="2257971"/>
                </a:lnTo>
                <a:lnTo>
                  <a:pt x="0" y="22579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82521" y="19529956"/>
            <a:ext cx="2373838" cy="237383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07344" y="10965600"/>
            <a:ext cx="18525923" cy="315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3"/>
              </a:lnSpc>
            </a:pPr>
            <a:r>
              <a:rPr lang="en-US" sz="11248" b="true">
                <a:solidFill>
                  <a:srgbClr val="009AA2"/>
                </a:solidFill>
                <a:latin typeface="Sora Bold"/>
                <a:ea typeface="Sora Bold"/>
                <a:cs typeface="Sora Bold"/>
                <a:sym typeface="Sora Bold"/>
              </a:rPr>
              <a:t>SharePoint Framework’s</a:t>
            </a:r>
            <a:r>
              <a:rPr lang="en-US" sz="11248" b="true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 v1.22 New Build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22025" y="20351353"/>
            <a:ext cx="14073202" cy="788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sz="5625" spc="562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ANDREW CONNELL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07344" y="14467672"/>
            <a:ext cx="429343" cy="2237192"/>
            <a:chOff x="0" y="0"/>
            <a:chExt cx="72370" cy="377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370" cy="377100"/>
            </a:xfrm>
            <a:custGeom>
              <a:avLst/>
              <a:gdLst/>
              <a:ahLst/>
              <a:cxnLst/>
              <a:rect r="r" b="b" t="t" l="l"/>
              <a:pathLst>
                <a:path h="377100" w="72370">
                  <a:moveTo>
                    <a:pt x="0" y="0"/>
                  </a:moveTo>
                  <a:lnTo>
                    <a:pt x="72370" y="0"/>
                  </a:lnTo>
                  <a:lnTo>
                    <a:pt x="72370" y="377100"/>
                  </a:lnTo>
                  <a:lnTo>
                    <a:pt x="0" y="377100"/>
                  </a:lnTo>
                  <a:close/>
                </a:path>
              </a:pathLst>
            </a:custGeom>
            <a:solidFill>
              <a:srgbClr val="009AA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2370" cy="434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56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417789" y="14334322"/>
            <a:ext cx="17170887" cy="237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0"/>
              </a:lnSpc>
            </a:pPr>
            <a:r>
              <a:rPr lang="en-US" sz="6843">
                <a:solidFill>
                  <a:srgbClr val="01203B"/>
                </a:solidFill>
                <a:latin typeface="Sora"/>
                <a:ea typeface="Sora"/>
                <a:cs typeface="Sora"/>
                <a:sym typeface="Sora"/>
              </a:rPr>
              <a:t>What Every Developer Needs to Know:</a:t>
            </a:r>
          </a:p>
          <a:p>
            <a:pPr algn="l">
              <a:lnSpc>
                <a:spcPts val="9580"/>
              </a:lnSpc>
            </a:pPr>
            <a:r>
              <a:rPr lang="en-US" sz="6843">
                <a:solidFill>
                  <a:srgbClr val="01203B"/>
                </a:solidFill>
                <a:latin typeface="Sora"/>
                <a:ea typeface="Sora"/>
                <a:cs typeface="Sora"/>
                <a:sym typeface="Sora"/>
              </a:rPr>
              <a:t>Gul</a:t>
            </a:r>
            <a:r>
              <a:rPr lang="en-US" sz="6843">
                <a:solidFill>
                  <a:srgbClr val="01203B"/>
                </a:solidFill>
                <a:latin typeface="Sora"/>
                <a:ea typeface="Sora"/>
                <a:cs typeface="Sora"/>
                <a:sym typeface="Sora"/>
              </a:rPr>
              <a:t>p is out; Heft is in!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show="false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24592" y="8917938"/>
            <a:ext cx="15725817" cy="32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62"/>
              </a:lnSpc>
            </a:pPr>
            <a:r>
              <a:rPr lang="en-US" sz="19330" b="true">
                <a:solidFill>
                  <a:srgbClr val="FFDE59"/>
                </a:solidFill>
                <a:latin typeface="Sora Semi-Bold"/>
                <a:ea typeface="Sora Semi-Bold"/>
                <a:cs typeface="Sora Semi-Bold"/>
                <a:sym typeface="Sora Semi-Bold"/>
              </a:rPr>
              <a:t>MARKETING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67599" y="13031797"/>
            <a:ext cx="9639803" cy="502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85"/>
              </a:lnSpc>
            </a:pPr>
            <a:r>
              <a:rPr lang="en-US" sz="7346">
                <a:solidFill>
                  <a:srgbClr val="FFDE59"/>
                </a:solidFill>
                <a:latin typeface="Sora"/>
                <a:ea typeface="Sora"/>
                <a:cs typeface="Sora"/>
                <a:sym typeface="Sora"/>
              </a:rPr>
              <a:t>opening title slide</a:t>
            </a:r>
          </a:p>
          <a:p>
            <a:pPr algn="ctr">
              <a:lnSpc>
                <a:spcPts val="10285"/>
              </a:lnSpc>
            </a:pPr>
            <a:r>
              <a:rPr lang="en-US" sz="7346">
                <a:solidFill>
                  <a:srgbClr val="FFDE59"/>
                </a:solidFill>
                <a:latin typeface="Sora"/>
                <a:ea typeface="Sora"/>
                <a:cs typeface="Sora"/>
                <a:sym typeface="Sora"/>
              </a:rPr>
              <a:t>bio</a:t>
            </a:r>
          </a:p>
          <a:p>
            <a:pPr algn="ctr">
              <a:lnSpc>
                <a:spcPts val="10285"/>
              </a:lnSpc>
            </a:pPr>
            <a:r>
              <a:rPr lang="en-US" sz="7346">
                <a:solidFill>
                  <a:srgbClr val="FFDE59"/>
                </a:solidFill>
                <a:latin typeface="Sora"/>
                <a:ea typeface="Sora"/>
                <a:cs typeface="Sora"/>
                <a:sym typeface="Sora"/>
              </a:rPr>
              <a:t>agenda</a:t>
            </a:r>
          </a:p>
          <a:p>
            <a:pPr algn="ctr">
              <a:lnSpc>
                <a:spcPts val="10285"/>
              </a:lnSpc>
            </a:pPr>
            <a:r>
              <a:rPr lang="en-US" sz="7346">
                <a:solidFill>
                  <a:srgbClr val="FFDE59"/>
                </a:solidFill>
                <a:latin typeface="Sora"/>
                <a:ea typeface="Sora"/>
                <a:cs typeface="Sora"/>
                <a:sym typeface="Sora"/>
              </a:rPr>
              <a:t>download resources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57500" y="1303965"/>
            <a:ext cx="7767673" cy="3107069"/>
          </a:xfrm>
          <a:custGeom>
            <a:avLst/>
            <a:gdLst/>
            <a:ahLst/>
            <a:cxnLst/>
            <a:rect r="r" b="b" t="t" l="l"/>
            <a:pathLst>
              <a:path h="3107069" w="7767673">
                <a:moveTo>
                  <a:pt x="0" y="0"/>
                </a:moveTo>
                <a:lnTo>
                  <a:pt x="7767673" y="0"/>
                </a:lnTo>
                <a:lnTo>
                  <a:pt x="7767673" y="3107070"/>
                </a:lnTo>
                <a:lnTo>
                  <a:pt x="0" y="3107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57500" y="24183328"/>
            <a:ext cx="21602279" cy="3068343"/>
            <a:chOff x="0" y="0"/>
            <a:chExt cx="28803038" cy="409112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4548978" y="1393320"/>
              <a:ext cx="24254061" cy="1380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97"/>
                </a:lnSpc>
              </a:pPr>
              <a:r>
                <a:rPr lang="en-US" sz="7270" spc="727">
                  <a:solidFill>
                    <a:srgbClr val="0E1F43"/>
                  </a:solidFill>
                  <a:latin typeface="Sora"/>
                  <a:ea typeface="Sora"/>
                  <a:cs typeface="Sora"/>
                  <a:sym typeface="Sora"/>
                </a:rPr>
                <a:t>ANDREW CONNELL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0"/>
              <a:ext cx="4091124" cy="4091124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0">
            <a:off x="7108961" y="-1085351"/>
            <a:ext cx="23621821" cy="30985540"/>
          </a:xfrm>
          <a:custGeom>
            <a:avLst/>
            <a:gdLst/>
            <a:ahLst/>
            <a:cxnLst/>
            <a:rect r="r" b="b" t="t" l="l"/>
            <a:pathLst>
              <a:path h="30985540" w="23621821">
                <a:moveTo>
                  <a:pt x="0" y="0"/>
                </a:moveTo>
                <a:lnTo>
                  <a:pt x="23621820" y="0"/>
                </a:lnTo>
                <a:lnTo>
                  <a:pt x="23621820" y="30985541"/>
                </a:lnTo>
                <a:lnTo>
                  <a:pt x="0" y="30985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2147" y="15296266"/>
            <a:ext cx="274779" cy="3208758"/>
            <a:chOff x="0" y="0"/>
            <a:chExt cx="72370" cy="8451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370" cy="845105"/>
            </a:xfrm>
            <a:custGeom>
              <a:avLst/>
              <a:gdLst/>
              <a:ahLst/>
              <a:cxnLst/>
              <a:rect r="r" b="b" t="t" l="l"/>
              <a:pathLst>
                <a:path h="845105" w="72370">
                  <a:moveTo>
                    <a:pt x="0" y="0"/>
                  </a:moveTo>
                  <a:lnTo>
                    <a:pt x="72370" y="0"/>
                  </a:lnTo>
                  <a:lnTo>
                    <a:pt x="72370" y="845105"/>
                  </a:lnTo>
                  <a:lnTo>
                    <a:pt x="0" y="845105"/>
                  </a:lnTo>
                  <a:close/>
                </a:path>
              </a:pathLst>
            </a:custGeom>
            <a:solidFill>
              <a:srgbClr val="009AA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2370" cy="883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82147" y="7424325"/>
            <a:ext cx="24793581" cy="6983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59"/>
              </a:lnSpc>
            </a:pPr>
            <a:r>
              <a:rPr lang="en-US" sz="16599" b="true">
                <a:solidFill>
                  <a:srgbClr val="009AA2"/>
                </a:solidFill>
                <a:latin typeface="Sora Bold"/>
                <a:ea typeface="Sora Bold"/>
                <a:cs typeface="Sora Bold"/>
                <a:sym typeface="Sora Bold"/>
              </a:rPr>
              <a:t>SharePoint Framework’s</a:t>
            </a:r>
            <a:r>
              <a:rPr lang="en-US" sz="16599" b="true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 v1.22 New Build System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55840" y="15131915"/>
            <a:ext cx="24170115" cy="337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0"/>
              </a:lnSpc>
            </a:pPr>
            <a:r>
              <a:rPr lang="en-US" sz="9700">
                <a:solidFill>
                  <a:srgbClr val="01203B"/>
                </a:solidFill>
                <a:latin typeface="Sora"/>
                <a:ea typeface="Sora"/>
                <a:cs typeface="Sora"/>
                <a:sym typeface="Sora"/>
              </a:rPr>
              <a:t>What Every Developer Needs to Know:</a:t>
            </a:r>
          </a:p>
          <a:p>
            <a:pPr algn="l">
              <a:lnSpc>
                <a:spcPts val="13580"/>
              </a:lnSpc>
            </a:pPr>
            <a:r>
              <a:rPr lang="en-US" sz="9700" b="true">
                <a:solidFill>
                  <a:srgbClr val="01203B"/>
                </a:solidFill>
                <a:latin typeface="Sora Bold"/>
                <a:ea typeface="Sora Bold"/>
                <a:cs typeface="Sora Bold"/>
                <a:sym typeface="Sora Bold"/>
              </a:rPr>
              <a:t>Gul</a:t>
            </a:r>
            <a:r>
              <a:rPr lang="en-US" b="true" sz="9700">
                <a:solidFill>
                  <a:srgbClr val="01203B"/>
                </a:solidFill>
                <a:latin typeface="Sora Bold"/>
                <a:ea typeface="Sora Bold"/>
                <a:cs typeface="Sora Bold"/>
                <a:sym typeface="Sora Bold"/>
              </a:rPr>
              <a:t>p is out; Heft is in!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36731" y="20356271"/>
            <a:ext cx="17539740" cy="177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54"/>
              </a:lnSpc>
            </a:pPr>
            <a:r>
              <a:rPr lang="en-US" sz="10396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Webinar · January 8, 2026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0E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57500" y="1303965"/>
            <a:ext cx="7767673" cy="3107069"/>
          </a:xfrm>
          <a:custGeom>
            <a:avLst/>
            <a:gdLst/>
            <a:ahLst/>
            <a:cxnLst/>
            <a:rect r="r" b="b" t="t" l="l"/>
            <a:pathLst>
              <a:path h="3107069" w="7767673">
                <a:moveTo>
                  <a:pt x="0" y="0"/>
                </a:moveTo>
                <a:lnTo>
                  <a:pt x="7767673" y="0"/>
                </a:lnTo>
                <a:lnTo>
                  <a:pt x="7767673" y="3107070"/>
                </a:lnTo>
                <a:lnTo>
                  <a:pt x="0" y="3107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57500" y="24183328"/>
            <a:ext cx="21602279" cy="3068343"/>
            <a:chOff x="0" y="0"/>
            <a:chExt cx="28803038" cy="409112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4548978" y="1393320"/>
              <a:ext cx="24254061" cy="1380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97"/>
                </a:lnSpc>
              </a:pPr>
              <a:r>
                <a:rPr lang="en-US" sz="7270" spc="727">
                  <a:solidFill>
                    <a:srgbClr val="F4F1EA"/>
                  </a:solidFill>
                  <a:latin typeface="Sora"/>
                  <a:ea typeface="Sora"/>
                  <a:cs typeface="Sora"/>
                  <a:sym typeface="Sora"/>
                </a:rPr>
                <a:t>ANDREW CONNELL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0"/>
              <a:ext cx="4091124" cy="4091124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0" r="0" b="0"/>
                </a:stretch>
              </a:blip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0">
            <a:off x="7291802" y="-1085351"/>
            <a:ext cx="23438979" cy="30745702"/>
          </a:xfrm>
          <a:custGeom>
            <a:avLst/>
            <a:gdLst/>
            <a:ahLst/>
            <a:cxnLst/>
            <a:rect r="r" b="b" t="t" l="l"/>
            <a:pathLst>
              <a:path h="30745702" w="23438979">
                <a:moveTo>
                  <a:pt x="0" y="0"/>
                </a:moveTo>
                <a:lnTo>
                  <a:pt x="23438979" y="0"/>
                </a:lnTo>
                <a:lnTo>
                  <a:pt x="23438979" y="30745702"/>
                </a:lnTo>
                <a:lnTo>
                  <a:pt x="0" y="30745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88258" y="21608618"/>
            <a:ext cx="17539740" cy="177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54"/>
              </a:lnSpc>
            </a:pPr>
            <a:r>
              <a:rPr lang="en-US" sz="10396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Webinar · January 8, 2026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857500" y="14497224"/>
            <a:ext cx="274779" cy="3208758"/>
            <a:chOff x="0" y="0"/>
            <a:chExt cx="72370" cy="8451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370" cy="845105"/>
            </a:xfrm>
            <a:custGeom>
              <a:avLst/>
              <a:gdLst/>
              <a:ahLst/>
              <a:cxnLst/>
              <a:rect r="r" b="b" t="t" l="l"/>
              <a:pathLst>
                <a:path h="845105" w="72370">
                  <a:moveTo>
                    <a:pt x="0" y="0"/>
                  </a:moveTo>
                  <a:lnTo>
                    <a:pt x="72370" y="0"/>
                  </a:lnTo>
                  <a:lnTo>
                    <a:pt x="72370" y="845105"/>
                  </a:lnTo>
                  <a:lnTo>
                    <a:pt x="0" y="845105"/>
                  </a:lnTo>
                  <a:close/>
                </a:path>
              </a:pathLst>
            </a:custGeom>
            <a:solidFill>
              <a:srgbClr val="009AA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2370" cy="883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857500" y="6625282"/>
            <a:ext cx="24793581" cy="6983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59"/>
              </a:lnSpc>
            </a:pPr>
            <a:r>
              <a:rPr lang="en-US" sz="16599" b="true">
                <a:solidFill>
                  <a:srgbClr val="009AA2"/>
                </a:solidFill>
                <a:latin typeface="Sora Bold"/>
                <a:ea typeface="Sora Bold"/>
                <a:cs typeface="Sora Bold"/>
                <a:sym typeface="Sora Bold"/>
              </a:rPr>
              <a:t>SharePoint Framework’s</a:t>
            </a:r>
            <a:r>
              <a:rPr lang="en-US" sz="16599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 v1.22 New Build System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31192" y="14332872"/>
            <a:ext cx="24170115" cy="337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0"/>
              </a:lnSpc>
            </a:pPr>
            <a:r>
              <a:rPr lang="en-US" sz="9700">
                <a:solidFill>
                  <a:srgbClr val="F4F1EA"/>
                </a:solidFill>
                <a:latin typeface="Sora"/>
                <a:ea typeface="Sora"/>
                <a:cs typeface="Sora"/>
                <a:sym typeface="Sora"/>
              </a:rPr>
              <a:t>What Every Developer Needs to Know:</a:t>
            </a:r>
          </a:p>
          <a:p>
            <a:pPr algn="l">
              <a:lnSpc>
                <a:spcPts val="13580"/>
              </a:lnSpc>
            </a:pPr>
            <a:r>
              <a:rPr lang="en-US" b="true" sz="9700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Gul</a:t>
            </a:r>
            <a:r>
              <a:rPr lang="en-US" b="true" sz="9700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p is out; Heft is in!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37341" y="6895328"/>
            <a:ext cx="11270841" cy="14784344"/>
          </a:xfrm>
          <a:custGeom>
            <a:avLst/>
            <a:gdLst/>
            <a:ahLst/>
            <a:cxnLst/>
            <a:rect r="r" b="b" t="t" l="l"/>
            <a:pathLst>
              <a:path h="14784344" w="11270841">
                <a:moveTo>
                  <a:pt x="0" y="0"/>
                </a:moveTo>
                <a:lnTo>
                  <a:pt x="11270842" y="0"/>
                </a:lnTo>
                <a:lnTo>
                  <a:pt x="11270842" y="14784344"/>
                </a:lnTo>
                <a:lnTo>
                  <a:pt x="0" y="14784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3530" y="7139108"/>
            <a:ext cx="5644928" cy="2257971"/>
          </a:xfrm>
          <a:custGeom>
            <a:avLst/>
            <a:gdLst/>
            <a:ahLst/>
            <a:cxnLst/>
            <a:rect r="r" b="b" t="t" l="l"/>
            <a:pathLst>
              <a:path h="2257971" w="5644928">
                <a:moveTo>
                  <a:pt x="0" y="0"/>
                </a:moveTo>
                <a:lnTo>
                  <a:pt x="5644928" y="0"/>
                </a:lnTo>
                <a:lnTo>
                  <a:pt x="5644928" y="2257971"/>
                </a:lnTo>
                <a:lnTo>
                  <a:pt x="0" y="22579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82521" y="19529956"/>
            <a:ext cx="16712706" cy="2373838"/>
            <a:chOff x="0" y="0"/>
            <a:chExt cx="22283608" cy="316511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3519338" y="1076146"/>
              <a:ext cx="18764270" cy="1069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87"/>
                </a:lnSpc>
              </a:pPr>
              <a:r>
                <a:rPr lang="en-US" sz="5625" spc="562">
                  <a:solidFill>
                    <a:srgbClr val="F4F1EA"/>
                  </a:solidFill>
                  <a:latin typeface="Sora"/>
                  <a:ea typeface="Sora"/>
                  <a:cs typeface="Sora"/>
                  <a:sym typeface="Sora"/>
                </a:rPr>
                <a:t>ANDREW CONNELL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 rot="0">
              <a:off x="0" y="0"/>
              <a:ext cx="3165118" cy="316511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</p:grpSp>
      <p:sp>
        <p:nvSpPr>
          <p:cNvPr name="TextBox 8" id="8"/>
          <p:cNvSpPr txBox="true"/>
          <p:nvPr/>
        </p:nvSpPr>
        <p:spPr>
          <a:xfrm rot="0">
            <a:off x="1607344" y="10965600"/>
            <a:ext cx="18525923" cy="315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3"/>
              </a:lnSpc>
            </a:pPr>
            <a:r>
              <a:rPr lang="en-US" sz="11248" b="true">
                <a:solidFill>
                  <a:srgbClr val="009AA2"/>
                </a:solidFill>
                <a:latin typeface="Sora Bold"/>
                <a:ea typeface="Sora Bold"/>
                <a:cs typeface="Sora Bold"/>
                <a:sym typeface="Sora Bold"/>
              </a:rPr>
              <a:t>SharePoint Framework’s</a:t>
            </a:r>
            <a:r>
              <a:rPr lang="en-US" sz="11248" b="true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 </a:t>
            </a:r>
            <a:r>
              <a:rPr lang="en-US" sz="11248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v1.22 New Build System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07344" y="14467672"/>
            <a:ext cx="429343" cy="2237192"/>
            <a:chOff x="0" y="0"/>
            <a:chExt cx="72370" cy="377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370" cy="377100"/>
            </a:xfrm>
            <a:custGeom>
              <a:avLst/>
              <a:gdLst/>
              <a:ahLst/>
              <a:cxnLst/>
              <a:rect r="r" b="b" t="t" l="l"/>
              <a:pathLst>
                <a:path h="377100" w="72370">
                  <a:moveTo>
                    <a:pt x="0" y="0"/>
                  </a:moveTo>
                  <a:lnTo>
                    <a:pt x="72370" y="0"/>
                  </a:lnTo>
                  <a:lnTo>
                    <a:pt x="72370" y="377100"/>
                  </a:lnTo>
                  <a:lnTo>
                    <a:pt x="0" y="377100"/>
                  </a:lnTo>
                  <a:close/>
                </a:path>
              </a:pathLst>
            </a:custGeom>
            <a:solidFill>
              <a:srgbClr val="009AA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72370" cy="434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56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417789" y="14334322"/>
            <a:ext cx="17170887" cy="237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0"/>
              </a:lnSpc>
            </a:pPr>
            <a:r>
              <a:rPr lang="en-US" sz="6843">
                <a:solidFill>
                  <a:srgbClr val="F4F1EA"/>
                </a:solidFill>
                <a:latin typeface="Sora"/>
                <a:ea typeface="Sora"/>
                <a:cs typeface="Sora"/>
                <a:sym typeface="Sora"/>
              </a:rPr>
              <a:t>What Every Developer Needs to Know:</a:t>
            </a:r>
          </a:p>
          <a:p>
            <a:pPr algn="l">
              <a:lnSpc>
                <a:spcPts val="9580"/>
              </a:lnSpc>
            </a:pPr>
            <a:r>
              <a:rPr lang="en-US" b="true" sz="6843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Gul</a:t>
            </a:r>
            <a:r>
              <a:rPr lang="en-US" b="true" sz="6843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p is out; Heft is in!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0E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37341" y="6895328"/>
            <a:ext cx="11270841" cy="14784344"/>
          </a:xfrm>
          <a:custGeom>
            <a:avLst/>
            <a:gdLst/>
            <a:ahLst/>
            <a:cxnLst/>
            <a:rect r="r" b="b" t="t" l="l"/>
            <a:pathLst>
              <a:path h="14784344" w="11270841">
                <a:moveTo>
                  <a:pt x="0" y="0"/>
                </a:moveTo>
                <a:lnTo>
                  <a:pt x="11270842" y="0"/>
                </a:lnTo>
                <a:lnTo>
                  <a:pt x="11270842" y="14784344"/>
                </a:lnTo>
                <a:lnTo>
                  <a:pt x="0" y="147843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7344" y="7077312"/>
            <a:ext cx="5644928" cy="2257971"/>
          </a:xfrm>
          <a:custGeom>
            <a:avLst/>
            <a:gdLst/>
            <a:ahLst/>
            <a:cxnLst/>
            <a:rect r="r" b="b" t="t" l="l"/>
            <a:pathLst>
              <a:path h="2257971" w="5644928">
                <a:moveTo>
                  <a:pt x="0" y="0"/>
                </a:moveTo>
                <a:lnTo>
                  <a:pt x="5644928" y="0"/>
                </a:lnTo>
                <a:lnTo>
                  <a:pt x="5644928" y="2257971"/>
                </a:lnTo>
                <a:lnTo>
                  <a:pt x="0" y="22579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82521" y="19529956"/>
            <a:ext cx="16712706" cy="2373838"/>
            <a:chOff x="0" y="0"/>
            <a:chExt cx="22283608" cy="316511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3519338" y="1076146"/>
              <a:ext cx="18764270" cy="1069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87"/>
                </a:lnSpc>
              </a:pPr>
              <a:r>
                <a:rPr lang="en-US" sz="5625" spc="562">
                  <a:solidFill>
                    <a:srgbClr val="F4F1EA"/>
                  </a:solidFill>
                  <a:latin typeface="Sora"/>
                  <a:ea typeface="Sora"/>
                  <a:cs typeface="Sora"/>
                  <a:sym typeface="Sora"/>
                </a:rPr>
                <a:t>ANDREW CONNELL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 rot="0">
              <a:off x="0" y="0"/>
              <a:ext cx="3165118" cy="316511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</p:grpSp>
      <p:sp>
        <p:nvSpPr>
          <p:cNvPr name="TextBox 8" id="8"/>
          <p:cNvSpPr txBox="true"/>
          <p:nvPr/>
        </p:nvSpPr>
        <p:spPr>
          <a:xfrm rot="0">
            <a:off x="2036686" y="16771637"/>
            <a:ext cx="14188320" cy="1436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73"/>
              </a:lnSpc>
            </a:pPr>
            <a:r>
              <a:rPr lang="en-US" sz="8409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Webinar · January 8,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7344" y="10321940"/>
            <a:ext cx="18525923" cy="315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3"/>
              </a:lnSpc>
            </a:pPr>
            <a:r>
              <a:rPr lang="en-US" sz="11248" b="true">
                <a:solidFill>
                  <a:srgbClr val="009AA2"/>
                </a:solidFill>
                <a:latin typeface="Sora Bold"/>
                <a:ea typeface="Sora Bold"/>
                <a:cs typeface="Sora Bold"/>
                <a:sym typeface="Sora Bold"/>
              </a:rPr>
              <a:t>SharePoint Framework’s</a:t>
            </a:r>
            <a:r>
              <a:rPr lang="en-US" sz="11248" b="true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 </a:t>
            </a:r>
            <a:r>
              <a:rPr lang="en-US" sz="11248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v1.22 New Build System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07344" y="13824013"/>
            <a:ext cx="429343" cy="2237192"/>
            <a:chOff x="0" y="0"/>
            <a:chExt cx="72370" cy="377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370" cy="377100"/>
            </a:xfrm>
            <a:custGeom>
              <a:avLst/>
              <a:gdLst/>
              <a:ahLst/>
              <a:cxnLst/>
              <a:rect r="r" b="b" t="t" l="l"/>
              <a:pathLst>
                <a:path h="377100" w="72370">
                  <a:moveTo>
                    <a:pt x="0" y="0"/>
                  </a:moveTo>
                  <a:lnTo>
                    <a:pt x="72370" y="0"/>
                  </a:lnTo>
                  <a:lnTo>
                    <a:pt x="72370" y="377100"/>
                  </a:lnTo>
                  <a:lnTo>
                    <a:pt x="0" y="377100"/>
                  </a:lnTo>
                  <a:close/>
                </a:path>
              </a:pathLst>
            </a:custGeom>
            <a:solidFill>
              <a:srgbClr val="009AA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72370" cy="434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5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417789" y="13690663"/>
            <a:ext cx="17170887" cy="237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0"/>
              </a:lnSpc>
            </a:pPr>
            <a:r>
              <a:rPr lang="en-US" sz="6843">
                <a:solidFill>
                  <a:srgbClr val="F4F1EA"/>
                </a:solidFill>
                <a:latin typeface="Sora"/>
                <a:ea typeface="Sora"/>
                <a:cs typeface="Sora"/>
                <a:sym typeface="Sora"/>
              </a:rPr>
              <a:t>What Every Developer Needs to Know:</a:t>
            </a:r>
          </a:p>
          <a:p>
            <a:pPr algn="l">
              <a:lnSpc>
                <a:spcPts val="9580"/>
              </a:lnSpc>
            </a:pPr>
            <a:r>
              <a:rPr lang="en-US" b="true" sz="6843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Gul</a:t>
            </a:r>
            <a:r>
              <a:rPr lang="en-US" b="true" sz="6843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p is out; Heft is in!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0E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1333" y="9521105"/>
            <a:ext cx="3405316" cy="1362126"/>
          </a:xfrm>
          <a:custGeom>
            <a:avLst/>
            <a:gdLst/>
            <a:ahLst/>
            <a:cxnLst/>
            <a:rect r="r" b="b" t="t" l="l"/>
            <a:pathLst>
              <a:path h="1362126" w="3405316">
                <a:moveTo>
                  <a:pt x="0" y="0"/>
                </a:moveTo>
                <a:lnTo>
                  <a:pt x="3405316" y="0"/>
                </a:lnTo>
                <a:lnTo>
                  <a:pt x="3405316" y="1362126"/>
                </a:lnTo>
                <a:lnTo>
                  <a:pt x="0" y="13621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39502" y="17068217"/>
            <a:ext cx="12931291" cy="1304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30"/>
              </a:lnSpc>
            </a:pPr>
            <a:r>
              <a:rPr lang="en-US" sz="7664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Webinar · January 8, 2026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0897953" y="9549747"/>
            <a:ext cx="7223651" cy="9475507"/>
          </a:xfrm>
          <a:custGeom>
            <a:avLst/>
            <a:gdLst/>
            <a:ahLst/>
            <a:cxnLst/>
            <a:rect r="r" b="b" t="t" l="l"/>
            <a:pathLst>
              <a:path h="9475507" w="7223651">
                <a:moveTo>
                  <a:pt x="0" y="0"/>
                </a:moveTo>
                <a:lnTo>
                  <a:pt x="7223651" y="0"/>
                </a:lnTo>
                <a:lnTo>
                  <a:pt x="7223651" y="9475506"/>
                </a:lnTo>
                <a:lnTo>
                  <a:pt x="0" y="94755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88266" y="14156605"/>
            <a:ext cx="348187" cy="1814308"/>
            <a:chOff x="0" y="0"/>
            <a:chExt cx="72370" cy="377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370" cy="377100"/>
            </a:xfrm>
            <a:custGeom>
              <a:avLst/>
              <a:gdLst/>
              <a:ahLst/>
              <a:cxnLst/>
              <a:rect r="r" b="b" t="t" l="l"/>
              <a:pathLst>
                <a:path h="377100" w="72370">
                  <a:moveTo>
                    <a:pt x="0" y="0"/>
                  </a:moveTo>
                  <a:lnTo>
                    <a:pt x="72370" y="0"/>
                  </a:lnTo>
                  <a:lnTo>
                    <a:pt x="72370" y="377100"/>
                  </a:lnTo>
                  <a:lnTo>
                    <a:pt x="0" y="377100"/>
                  </a:lnTo>
                  <a:close/>
                </a:path>
              </a:pathLst>
            </a:custGeom>
            <a:solidFill>
              <a:srgbClr val="009AA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72370" cy="462825"/>
            </a:xfrm>
            <a:prstGeom prst="rect">
              <a:avLst/>
            </a:prstGeom>
          </p:spPr>
          <p:txBody>
            <a:bodyPr anchor="ctr" rtlCol="false" tIns="41790" lIns="41790" bIns="41790" rIns="41790"/>
            <a:lstStyle/>
            <a:p>
              <a:pPr algn="ctr">
                <a:lnSpc>
                  <a:spcPts val="641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09640" y="14215483"/>
            <a:ext cx="17402441" cy="1636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8"/>
              </a:lnSpc>
            </a:pPr>
            <a:r>
              <a:rPr lang="en-US" sz="4863">
                <a:solidFill>
                  <a:srgbClr val="F4F1EA"/>
                </a:solidFill>
                <a:latin typeface="Sora"/>
                <a:ea typeface="Sora"/>
                <a:cs typeface="Sora"/>
                <a:sym typeface="Sora"/>
              </a:rPr>
              <a:t>What Every Developer Needs to Know:</a:t>
            </a:r>
          </a:p>
          <a:p>
            <a:pPr algn="l">
              <a:lnSpc>
                <a:spcPts val="6808"/>
              </a:lnSpc>
            </a:pPr>
            <a:r>
              <a:rPr lang="en-US" b="true" sz="4863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Gul</a:t>
            </a:r>
            <a:r>
              <a:rPr lang="en-US" b="true" sz="4863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p is out; Heft is in!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8266" y="11319064"/>
            <a:ext cx="18775750" cy="264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44"/>
              </a:lnSpc>
            </a:pPr>
            <a:r>
              <a:rPr lang="en-US" sz="9404" b="true">
                <a:solidFill>
                  <a:srgbClr val="009AA2"/>
                </a:solidFill>
                <a:latin typeface="Sora Bold"/>
                <a:ea typeface="Sora Bold"/>
                <a:cs typeface="Sora Bold"/>
                <a:sym typeface="Sora Bold"/>
              </a:rPr>
              <a:t>SharePoint Framework’s</a:t>
            </a:r>
            <a:r>
              <a:rPr lang="en-US" sz="9404" b="true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 </a:t>
            </a:r>
            <a:r>
              <a:rPr lang="en-US" sz="9404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v1.22 New Build System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0E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210290" y="10768964"/>
            <a:ext cx="5364710" cy="7037072"/>
          </a:xfrm>
          <a:custGeom>
            <a:avLst/>
            <a:gdLst/>
            <a:ahLst/>
            <a:cxnLst/>
            <a:rect r="r" b="b" t="t" l="l"/>
            <a:pathLst>
              <a:path h="7037072" w="5364710">
                <a:moveTo>
                  <a:pt x="0" y="0"/>
                </a:moveTo>
                <a:lnTo>
                  <a:pt x="5364710" y="0"/>
                </a:lnTo>
                <a:lnTo>
                  <a:pt x="5364710" y="7037072"/>
                </a:lnTo>
                <a:lnTo>
                  <a:pt x="0" y="7037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8361" y="13921191"/>
            <a:ext cx="5497785" cy="3068721"/>
            <a:chOff x="0" y="0"/>
            <a:chExt cx="7330380" cy="409162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3397062"/>
              <a:ext cx="7330380" cy="6945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0"/>
                </a:lnSpc>
              </a:pPr>
              <a:r>
                <a:rPr lang="en-US" sz="1100" spc="110">
                  <a:solidFill>
                    <a:srgbClr val="F4F1EA"/>
                  </a:solidFill>
                  <a:latin typeface="Sora"/>
                  <a:ea typeface="Sora"/>
                  <a:cs typeface="Sora"/>
                  <a:sym typeface="Sora"/>
                </a:rPr>
                <a:t>ANDREW CONNELL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2312839" y="0"/>
              <a:ext cx="2704702" cy="2704702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0" r="0" b="0"/>
                </a:stretch>
              </a:blipFill>
            </p:spPr>
          </p:sp>
        </p:grpSp>
      </p:grpSp>
      <p:sp>
        <p:nvSpPr>
          <p:cNvPr name="TextBox 7" id="7"/>
          <p:cNvSpPr txBox="true"/>
          <p:nvPr/>
        </p:nvSpPr>
        <p:spPr>
          <a:xfrm rot="0">
            <a:off x="8811282" y="16229110"/>
            <a:ext cx="9852091" cy="999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75"/>
              </a:lnSpc>
            </a:pPr>
            <a:r>
              <a:rPr lang="en-US" sz="5839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Webinar · January 8, 2026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29273" y="11430000"/>
            <a:ext cx="5136873" cy="2054749"/>
          </a:xfrm>
          <a:custGeom>
            <a:avLst/>
            <a:gdLst/>
            <a:ahLst/>
            <a:cxnLst/>
            <a:rect r="r" b="b" t="t" l="l"/>
            <a:pathLst>
              <a:path h="2054749" w="5136873">
                <a:moveTo>
                  <a:pt x="0" y="0"/>
                </a:moveTo>
                <a:lnTo>
                  <a:pt x="5136873" y="0"/>
                </a:lnTo>
                <a:lnTo>
                  <a:pt x="5136873" y="2054749"/>
                </a:lnTo>
                <a:lnTo>
                  <a:pt x="0" y="20547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682557" y="14049514"/>
            <a:ext cx="14527733" cy="1285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9"/>
              </a:lnSpc>
            </a:pPr>
            <a:r>
              <a:rPr lang="en-US" sz="3749">
                <a:solidFill>
                  <a:srgbClr val="F4F1EA"/>
                </a:solidFill>
                <a:latin typeface="Sora"/>
                <a:ea typeface="Sora"/>
                <a:cs typeface="Sora"/>
                <a:sym typeface="Sora"/>
              </a:rPr>
              <a:t>What Every Developer Needs to Know:</a:t>
            </a:r>
          </a:p>
          <a:p>
            <a:pPr algn="l">
              <a:lnSpc>
                <a:spcPts val="5249"/>
              </a:lnSpc>
            </a:pPr>
            <a:r>
              <a:rPr lang="en-US" b="true" sz="3749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Gul</a:t>
            </a:r>
            <a:r>
              <a:rPr lang="en-US" b="true" sz="3749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p is out; Heft is in!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87162" y="11710723"/>
            <a:ext cx="14465505" cy="226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3"/>
              </a:lnSpc>
            </a:pPr>
            <a:r>
              <a:rPr lang="en-US" sz="8021" b="true">
                <a:solidFill>
                  <a:srgbClr val="009AA2"/>
                </a:solidFill>
                <a:latin typeface="Sora Bold"/>
                <a:ea typeface="Sora Bold"/>
                <a:cs typeface="Sora Bold"/>
                <a:sym typeface="Sora Bold"/>
              </a:rPr>
              <a:t>SharePoint Framework’s</a:t>
            </a:r>
            <a:r>
              <a:rPr lang="en-US" sz="8021" b="true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 </a:t>
            </a:r>
            <a:r>
              <a:rPr lang="en-US" sz="8021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v1.22 New Build System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428233" y="14091595"/>
            <a:ext cx="155299" cy="1243380"/>
            <a:chOff x="0" y="0"/>
            <a:chExt cx="84865" cy="6794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4865" cy="679462"/>
            </a:xfrm>
            <a:custGeom>
              <a:avLst/>
              <a:gdLst/>
              <a:ahLst/>
              <a:cxnLst/>
              <a:rect r="r" b="b" t="t" l="l"/>
              <a:pathLst>
                <a:path h="679462" w="84865">
                  <a:moveTo>
                    <a:pt x="0" y="0"/>
                  </a:moveTo>
                  <a:lnTo>
                    <a:pt x="84865" y="0"/>
                  </a:lnTo>
                  <a:lnTo>
                    <a:pt x="84865" y="679462"/>
                  </a:lnTo>
                  <a:lnTo>
                    <a:pt x="0" y="679462"/>
                  </a:lnTo>
                  <a:close/>
                </a:path>
              </a:pathLst>
            </a:custGeom>
            <a:solidFill>
              <a:srgbClr val="009AA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4865" cy="727087"/>
            </a:xfrm>
            <a:prstGeom prst="rect">
              <a:avLst/>
            </a:prstGeom>
          </p:spPr>
          <p:txBody>
            <a:bodyPr anchor="ctr" rtlCol="false" tIns="20692" lIns="20692" bIns="20692" rIns="20692"/>
            <a:lstStyle/>
            <a:p>
              <a:pPr algn="ctr">
                <a:lnSpc>
                  <a:spcPts val="3533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show="false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356476" y="11229975"/>
            <a:ext cx="5862049" cy="1767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08"/>
              </a:lnSpc>
            </a:pPr>
            <a:r>
              <a:rPr lang="en-US" sz="10434" b="true">
                <a:solidFill>
                  <a:srgbClr val="FFDE59"/>
                </a:solidFill>
                <a:latin typeface="Sora Semi-Bold"/>
                <a:ea typeface="Sora Semi-Bold"/>
                <a:cs typeface="Sora Semi-Bold"/>
                <a:sym typeface="Sora Semi-Bold"/>
              </a:rPr>
              <a:t>README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13998" y="12892708"/>
            <a:ext cx="16347005" cy="4475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4"/>
              </a:lnSpc>
            </a:pPr>
            <a:r>
              <a:rPr lang="en-US" sz="5217">
                <a:solidFill>
                  <a:srgbClr val="FFDE59"/>
                </a:solidFill>
                <a:latin typeface="Sora"/>
                <a:ea typeface="Sora"/>
                <a:cs typeface="Sora"/>
                <a:sym typeface="Sora"/>
              </a:rPr>
              <a:t>Used for the Microsoft Teams webinar registration page banner</a:t>
            </a:r>
          </a:p>
          <a:p>
            <a:pPr algn="ctr">
              <a:lnSpc>
                <a:spcPts val="7304"/>
              </a:lnSpc>
            </a:pPr>
            <a:r>
              <a:rPr lang="en-US" sz="5217">
                <a:solidFill>
                  <a:srgbClr val="FFDE59"/>
                </a:solidFill>
                <a:latin typeface="Sora"/>
                <a:ea typeface="Sora"/>
                <a:cs typeface="Sora"/>
                <a:sym typeface="Sora"/>
              </a:rPr>
              <a:t>920 x 230</a:t>
            </a:r>
          </a:p>
          <a:p>
            <a:pPr algn="ctr">
              <a:lnSpc>
                <a:spcPts val="7304"/>
              </a:lnSpc>
            </a:pPr>
          </a:p>
          <a:p>
            <a:pPr algn="ctr">
              <a:lnSpc>
                <a:spcPts val="7304"/>
              </a:lnSpc>
            </a:pPr>
            <a:r>
              <a:rPr lang="en-US" sz="5217">
                <a:solidFill>
                  <a:srgbClr val="FFDE59"/>
                </a:solidFill>
                <a:latin typeface="Sora"/>
                <a:ea typeface="Sora"/>
                <a:cs typeface="Sora"/>
                <a:sym typeface="Sora"/>
              </a:rPr>
              <a:t>Set in the WEBINAR&gt;THEME in MSTeams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0E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82147" y="1303965"/>
            <a:ext cx="7767673" cy="3107069"/>
          </a:xfrm>
          <a:custGeom>
            <a:avLst/>
            <a:gdLst/>
            <a:ahLst/>
            <a:cxnLst/>
            <a:rect r="r" b="b" t="t" l="l"/>
            <a:pathLst>
              <a:path h="3107069" w="7767673">
                <a:moveTo>
                  <a:pt x="0" y="0"/>
                </a:moveTo>
                <a:lnTo>
                  <a:pt x="7767673" y="0"/>
                </a:lnTo>
                <a:lnTo>
                  <a:pt x="7767673" y="3107070"/>
                </a:lnTo>
                <a:lnTo>
                  <a:pt x="0" y="3107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82147" y="24183328"/>
            <a:ext cx="21602279" cy="3068343"/>
            <a:chOff x="0" y="0"/>
            <a:chExt cx="28803038" cy="409112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4548978" y="1393320"/>
              <a:ext cx="24254061" cy="1380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97"/>
                </a:lnSpc>
              </a:pPr>
              <a:r>
                <a:rPr lang="en-US" sz="7270" spc="727">
                  <a:solidFill>
                    <a:srgbClr val="F4F1EA"/>
                  </a:solidFill>
                  <a:latin typeface="Sora"/>
                  <a:ea typeface="Sora"/>
                  <a:cs typeface="Sora"/>
                  <a:sym typeface="Sora"/>
                </a:rPr>
                <a:t>ANDREW CONNELL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0"/>
              <a:ext cx="4091124" cy="4091124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0" r="0" b="0"/>
                </a:stretch>
              </a:blip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0">
            <a:off x="7291802" y="-1085351"/>
            <a:ext cx="23438979" cy="30745702"/>
          </a:xfrm>
          <a:custGeom>
            <a:avLst/>
            <a:gdLst/>
            <a:ahLst/>
            <a:cxnLst/>
            <a:rect r="r" b="b" t="t" l="l"/>
            <a:pathLst>
              <a:path h="30745702" w="23438979">
                <a:moveTo>
                  <a:pt x="0" y="0"/>
                </a:moveTo>
                <a:lnTo>
                  <a:pt x="23438979" y="0"/>
                </a:lnTo>
                <a:lnTo>
                  <a:pt x="23438979" y="30745702"/>
                </a:lnTo>
                <a:lnTo>
                  <a:pt x="0" y="30745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857500" y="15261525"/>
            <a:ext cx="274779" cy="4932783"/>
            <a:chOff x="0" y="0"/>
            <a:chExt cx="72370" cy="12991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370" cy="1299169"/>
            </a:xfrm>
            <a:custGeom>
              <a:avLst/>
              <a:gdLst/>
              <a:ahLst/>
              <a:cxnLst/>
              <a:rect r="r" b="b" t="t" l="l"/>
              <a:pathLst>
                <a:path h="1299169" w="72370">
                  <a:moveTo>
                    <a:pt x="0" y="0"/>
                  </a:moveTo>
                  <a:lnTo>
                    <a:pt x="72370" y="0"/>
                  </a:lnTo>
                  <a:lnTo>
                    <a:pt x="72370" y="1299169"/>
                  </a:lnTo>
                  <a:lnTo>
                    <a:pt x="0" y="1299169"/>
                  </a:lnTo>
                  <a:close/>
                </a:path>
              </a:pathLst>
            </a:custGeom>
            <a:solidFill>
              <a:srgbClr val="009AA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2370" cy="1337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857500" y="7389584"/>
            <a:ext cx="24793581" cy="6983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59"/>
              </a:lnSpc>
            </a:pPr>
            <a:r>
              <a:rPr lang="en-US" sz="16599" b="true">
                <a:solidFill>
                  <a:srgbClr val="009AA2"/>
                </a:solidFill>
                <a:latin typeface="Sora Bold"/>
                <a:ea typeface="Sora Bold"/>
                <a:cs typeface="Sora Bold"/>
                <a:sym typeface="Sora Bold"/>
              </a:rPr>
              <a:t>SharePoint Framework’s</a:t>
            </a:r>
            <a:r>
              <a:rPr lang="en-US" sz="16599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 v1.22 New Build System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31192" y="15097174"/>
            <a:ext cx="20070679" cy="5097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0"/>
              </a:lnSpc>
            </a:pPr>
            <a:r>
              <a:rPr lang="en-US" sz="9700">
                <a:solidFill>
                  <a:srgbClr val="F4F1EA"/>
                </a:solidFill>
                <a:latin typeface="Sora"/>
                <a:ea typeface="Sora"/>
                <a:cs typeface="Sora"/>
                <a:sym typeface="Sora"/>
              </a:rPr>
              <a:t>What Every Developer Needs to Know:</a:t>
            </a:r>
          </a:p>
          <a:p>
            <a:pPr algn="l">
              <a:lnSpc>
                <a:spcPts val="13580"/>
              </a:lnSpc>
            </a:pPr>
            <a:r>
              <a:rPr lang="en-US" b="true" sz="9700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Gul</a:t>
            </a:r>
            <a:r>
              <a:rPr lang="en-US" b="true" sz="9700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p is out; Heft is in!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0" y="6250781"/>
            <a:ext cx="28575000" cy="16073438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1263530" y="7099077"/>
            <a:ext cx="5644928" cy="2257971"/>
          </a:xfrm>
          <a:custGeom>
            <a:avLst/>
            <a:gdLst/>
            <a:ahLst/>
            <a:cxnLst/>
            <a:rect r="r" b="b" t="t" l="l"/>
            <a:pathLst>
              <a:path h="2257971" w="5644928">
                <a:moveTo>
                  <a:pt x="0" y="0"/>
                </a:moveTo>
                <a:lnTo>
                  <a:pt x="5644928" y="0"/>
                </a:lnTo>
                <a:lnTo>
                  <a:pt x="5644928" y="2257971"/>
                </a:lnTo>
                <a:lnTo>
                  <a:pt x="0" y="22579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82521" y="19529956"/>
            <a:ext cx="2373838" cy="237383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622025" y="20351353"/>
            <a:ext cx="14073202" cy="788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sz="5625" spc="562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ANDREW CONNELL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7344" y="10965600"/>
            <a:ext cx="19742913" cy="336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85"/>
              </a:lnSpc>
            </a:pPr>
            <a:r>
              <a:rPr lang="en-US" sz="11987" b="true">
                <a:solidFill>
                  <a:srgbClr val="009AA2"/>
                </a:solidFill>
                <a:latin typeface="Sora Bold"/>
                <a:ea typeface="Sora Bold"/>
                <a:cs typeface="Sora Bold"/>
                <a:sym typeface="Sora Bold"/>
              </a:rPr>
              <a:t>SharePoint Framework’s</a:t>
            </a:r>
            <a:r>
              <a:rPr lang="en-US" sz="11987" b="true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 v1.22 New Build System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07344" y="14528172"/>
            <a:ext cx="457547" cy="2384155"/>
            <a:chOff x="0" y="0"/>
            <a:chExt cx="72370" cy="377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370" cy="377100"/>
            </a:xfrm>
            <a:custGeom>
              <a:avLst/>
              <a:gdLst/>
              <a:ahLst/>
              <a:cxnLst/>
              <a:rect r="r" b="b" t="t" l="l"/>
              <a:pathLst>
                <a:path h="377100" w="72370">
                  <a:moveTo>
                    <a:pt x="0" y="0"/>
                  </a:moveTo>
                  <a:lnTo>
                    <a:pt x="72370" y="0"/>
                  </a:lnTo>
                  <a:lnTo>
                    <a:pt x="72370" y="377100"/>
                  </a:lnTo>
                  <a:lnTo>
                    <a:pt x="0" y="377100"/>
                  </a:lnTo>
                  <a:close/>
                </a:path>
              </a:pathLst>
            </a:custGeom>
            <a:solidFill>
              <a:srgbClr val="009AA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2370" cy="434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56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471028" y="14385297"/>
            <a:ext cx="18298862" cy="2547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0"/>
              </a:lnSpc>
            </a:pPr>
            <a:r>
              <a:rPr lang="en-US" sz="7293">
                <a:solidFill>
                  <a:srgbClr val="01203B"/>
                </a:solidFill>
                <a:latin typeface="Sora"/>
                <a:ea typeface="Sora"/>
                <a:cs typeface="Sora"/>
                <a:sym typeface="Sora"/>
              </a:rPr>
              <a:t>What Every Developer Needs to Know:</a:t>
            </a:r>
          </a:p>
          <a:p>
            <a:pPr algn="l">
              <a:lnSpc>
                <a:spcPts val="10210"/>
              </a:lnSpc>
            </a:pPr>
            <a:r>
              <a:rPr lang="en-US" sz="7293" b="true">
                <a:solidFill>
                  <a:srgbClr val="01203B"/>
                </a:solidFill>
                <a:latin typeface="Sora Bold"/>
                <a:ea typeface="Sora Bold"/>
                <a:cs typeface="Sora Bold"/>
                <a:sym typeface="Sora Bold"/>
              </a:rPr>
              <a:t>Gul</a:t>
            </a:r>
            <a:r>
              <a:rPr lang="en-US" b="true" sz="7293">
                <a:solidFill>
                  <a:srgbClr val="01203B"/>
                </a:solidFill>
                <a:latin typeface="Sora Bold"/>
                <a:ea typeface="Sora Bold"/>
                <a:cs typeface="Sora Bold"/>
                <a:sym typeface="Sora Bold"/>
              </a:rPr>
              <a:t>p is out; Heft is in!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64891" y="17577756"/>
            <a:ext cx="14188320" cy="1436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73"/>
              </a:lnSpc>
            </a:pPr>
            <a:r>
              <a:rPr lang="en-US" sz="8409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Webinar · January 8, 2026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62727" y="13748689"/>
            <a:ext cx="16504929" cy="7525359"/>
            <a:chOff x="0" y="0"/>
            <a:chExt cx="22006572" cy="1003381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006572" cy="10033812"/>
              <a:chOff x="0" y="0"/>
              <a:chExt cx="2782065" cy="126847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82065" cy="1268472"/>
              </a:xfrm>
              <a:custGeom>
                <a:avLst/>
                <a:gdLst/>
                <a:ahLst/>
                <a:cxnLst/>
                <a:rect r="r" b="b" t="t" l="l"/>
                <a:pathLst>
                  <a:path h="1268472" w="2782065">
                    <a:moveTo>
                      <a:pt x="11452" y="0"/>
                    </a:moveTo>
                    <a:lnTo>
                      <a:pt x="2770614" y="0"/>
                    </a:lnTo>
                    <a:cubicBezTo>
                      <a:pt x="2773651" y="0"/>
                      <a:pt x="2776564" y="1207"/>
                      <a:pt x="2778711" y="3354"/>
                    </a:cubicBezTo>
                    <a:cubicBezTo>
                      <a:pt x="2780859" y="5502"/>
                      <a:pt x="2782065" y="8415"/>
                      <a:pt x="2782065" y="11452"/>
                    </a:cubicBezTo>
                    <a:lnTo>
                      <a:pt x="2782065" y="1257020"/>
                    </a:lnTo>
                    <a:cubicBezTo>
                      <a:pt x="2782065" y="1263345"/>
                      <a:pt x="2776938" y="1268472"/>
                      <a:pt x="2770614" y="1268472"/>
                    </a:cubicBezTo>
                    <a:lnTo>
                      <a:pt x="11452" y="1268472"/>
                    </a:lnTo>
                    <a:cubicBezTo>
                      <a:pt x="5127" y="1268472"/>
                      <a:pt x="0" y="1263345"/>
                      <a:pt x="0" y="1257020"/>
                    </a:cubicBezTo>
                    <a:lnTo>
                      <a:pt x="0" y="11452"/>
                    </a:lnTo>
                    <a:cubicBezTo>
                      <a:pt x="0" y="5127"/>
                      <a:pt x="5127" y="0"/>
                      <a:pt x="1145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2782065" cy="13256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56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9030551"/>
              <a:ext cx="22006572" cy="6024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12"/>
                </a:lnSpc>
              </a:pPr>
              <a:r>
                <a:rPr lang="en-US" b="true" sz="3906" spc="390">
                  <a:solidFill>
                    <a:srgbClr val="0E1F43"/>
                  </a:solidFill>
                  <a:latin typeface="Sora Bold"/>
                  <a:ea typeface="Sora Bold"/>
                  <a:cs typeface="Sora Bold"/>
                  <a:sym typeface="Sora Bold"/>
                </a:rPr>
                <a:t>ANDREW@VOITANOS.IO · VOITANOS.IO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864516" y="7175028"/>
              <a:ext cx="18277541" cy="10490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 b="true">
                  <a:solidFill>
                    <a:srgbClr val="F4F1EA"/>
                  </a:solidFill>
                  <a:latin typeface="Sora Semi-Bold"/>
                  <a:ea typeface="Sora Semi-Bold"/>
                  <a:cs typeface="Sora Semi-Bold"/>
                  <a:sym typeface="Sora Semi-Bold"/>
                </a:rPr>
                <a:t>✉️ Full Stack Dev's Microsoft 365 Playbook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15195196" y="645899"/>
              <a:ext cx="3760997" cy="5947623"/>
            </a:xfrm>
            <a:custGeom>
              <a:avLst/>
              <a:gdLst/>
              <a:ahLst/>
              <a:cxnLst/>
              <a:rect r="r" b="b" t="t" l="l"/>
              <a:pathLst>
                <a:path h="5947623" w="3760997">
                  <a:moveTo>
                    <a:pt x="0" y="0"/>
                  </a:moveTo>
                  <a:lnTo>
                    <a:pt x="3760997" y="0"/>
                  </a:lnTo>
                  <a:lnTo>
                    <a:pt x="3760997" y="5947623"/>
                  </a:lnTo>
                  <a:lnTo>
                    <a:pt x="0" y="5947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3050380" y="3700481"/>
              <a:ext cx="9798010" cy="2893040"/>
              <a:chOff x="0" y="0"/>
              <a:chExt cx="1225285" cy="36178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25285" cy="361788"/>
              </a:xfrm>
              <a:custGeom>
                <a:avLst/>
                <a:gdLst/>
                <a:ahLst/>
                <a:cxnLst/>
                <a:rect r="r" b="b" t="t" l="l"/>
                <a:pathLst>
                  <a:path h="361788" w="1225285">
                    <a:moveTo>
                      <a:pt x="38582" y="0"/>
                    </a:moveTo>
                    <a:lnTo>
                      <a:pt x="1186703" y="0"/>
                    </a:lnTo>
                    <a:cubicBezTo>
                      <a:pt x="1208011" y="0"/>
                      <a:pt x="1225285" y="17274"/>
                      <a:pt x="1225285" y="38582"/>
                    </a:cubicBezTo>
                    <a:lnTo>
                      <a:pt x="1225285" y="323206"/>
                    </a:lnTo>
                    <a:cubicBezTo>
                      <a:pt x="1225285" y="344514"/>
                      <a:pt x="1208011" y="361788"/>
                      <a:pt x="1186703" y="361788"/>
                    </a:cubicBezTo>
                    <a:lnTo>
                      <a:pt x="38582" y="361788"/>
                    </a:lnTo>
                    <a:cubicBezTo>
                      <a:pt x="17274" y="361788"/>
                      <a:pt x="0" y="344514"/>
                      <a:pt x="0" y="323206"/>
                    </a:cubicBezTo>
                    <a:lnTo>
                      <a:pt x="0" y="38582"/>
                    </a:lnTo>
                    <a:cubicBezTo>
                      <a:pt x="0" y="17274"/>
                      <a:pt x="17274" y="0"/>
                      <a:pt x="38582" y="0"/>
                    </a:cubicBezTo>
                    <a:close/>
                  </a:path>
                </a:pathLst>
              </a:custGeom>
              <a:solidFill>
                <a:srgbClr val="0A50A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1225285" cy="418938"/>
              </a:xfrm>
              <a:prstGeom prst="rect">
                <a:avLst/>
              </a:prstGeom>
            </p:spPr>
            <p:txBody>
              <a:bodyPr anchor="ctr" rtlCol="false" tIns="51355" lIns="51355" bIns="51355" rIns="51355"/>
              <a:lstStyle/>
              <a:p>
                <a:pPr algn="ctr">
                  <a:lnSpc>
                    <a:spcPts val="4156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3735805" y="3989906"/>
              <a:ext cx="1215989" cy="2251831"/>
            </a:xfrm>
            <a:custGeom>
              <a:avLst/>
              <a:gdLst/>
              <a:ahLst/>
              <a:cxnLst/>
              <a:rect r="r" b="b" t="t" l="l"/>
              <a:pathLst>
                <a:path h="2251831" w="1215989">
                  <a:moveTo>
                    <a:pt x="0" y="0"/>
                  </a:moveTo>
                  <a:lnTo>
                    <a:pt x="1215988" y="0"/>
                  </a:lnTo>
                  <a:lnTo>
                    <a:pt x="1215988" y="2251831"/>
                  </a:lnTo>
                  <a:lnTo>
                    <a:pt x="0" y="2251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5685580" y="4056581"/>
              <a:ext cx="6625804" cy="2173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84"/>
                </a:lnSpc>
              </a:pPr>
              <a:r>
                <a:rPr lang="en-US" sz="3845">
                  <a:solidFill>
                    <a:srgbClr val="F2F2F2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Code. Deploy. Go Live.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3050380" y="645899"/>
              <a:ext cx="9798010" cy="2904296"/>
            </a:xfrm>
            <a:custGeom>
              <a:avLst/>
              <a:gdLst/>
              <a:ahLst/>
              <a:cxnLst/>
              <a:rect r="r" b="b" t="t" l="l"/>
              <a:pathLst>
                <a:path h="2904296" w="9798010">
                  <a:moveTo>
                    <a:pt x="0" y="0"/>
                  </a:moveTo>
                  <a:lnTo>
                    <a:pt x="9798009" y="0"/>
                  </a:lnTo>
                  <a:lnTo>
                    <a:pt x="9798009" y="2904296"/>
                  </a:lnTo>
                  <a:lnTo>
                    <a:pt x="0" y="2904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46" t="-33342" r="-10000" b="-2541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462727" y="9441702"/>
            <a:ext cx="16504929" cy="3894405"/>
            <a:chOff x="0" y="0"/>
            <a:chExt cx="22006572" cy="519254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22006572" cy="5192540"/>
              <a:chOff x="0" y="0"/>
              <a:chExt cx="2782065" cy="65644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782065" cy="656440"/>
              </a:xfrm>
              <a:custGeom>
                <a:avLst/>
                <a:gdLst/>
                <a:ahLst/>
                <a:cxnLst/>
                <a:rect r="r" b="b" t="t" l="l"/>
                <a:pathLst>
                  <a:path h="656440" w="2782065">
                    <a:moveTo>
                      <a:pt x="11452" y="0"/>
                    </a:moveTo>
                    <a:lnTo>
                      <a:pt x="2770614" y="0"/>
                    </a:lnTo>
                    <a:cubicBezTo>
                      <a:pt x="2773651" y="0"/>
                      <a:pt x="2776564" y="1207"/>
                      <a:pt x="2778711" y="3354"/>
                    </a:cubicBezTo>
                    <a:cubicBezTo>
                      <a:pt x="2780859" y="5502"/>
                      <a:pt x="2782065" y="8415"/>
                      <a:pt x="2782065" y="11452"/>
                    </a:cubicBezTo>
                    <a:lnTo>
                      <a:pt x="2782065" y="644988"/>
                    </a:lnTo>
                    <a:cubicBezTo>
                      <a:pt x="2782065" y="651312"/>
                      <a:pt x="2776938" y="656440"/>
                      <a:pt x="2770614" y="656440"/>
                    </a:cubicBezTo>
                    <a:lnTo>
                      <a:pt x="11452" y="656440"/>
                    </a:lnTo>
                    <a:cubicBezTo>
                      <a:pt x="8415" y="656440"/>
                      <a:pt x="5502" y="655233"/>
                      <a:pt x="3354" y="653085"/>
                    </a:cubicBezTo>
                    <a:cubicBezTo>
                      <a:pt x="1207" y="650938"/>
                      <a:pt x="0" y="648025"/>
                      <a:pt x="0" y="644988"/>
                    </a:cubicBezTo>
                    <a:lnTo>
                      <a:pt x="0" y="11452"/>
                    </a:lnTo>
                    <a:cubicBezTo>
                      <a:pt x="0" y="5127"/>
                      <a:pt x="5127" y="0"/>
                      <a:pt x="1145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2782065" cy="7135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56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276903" y="492940"/>
              <a:ext cx="10544163" cy="3597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09625" indent="-404812" lvl="1">
                <a:lnSpc>
                  <a:spcPts val="7500"/>
                </a:lnSpc>
                <a:buFont typeface="Arial"/>
                <a:buChar char="•"/>
              </a:pPr>
              <a:r>
                <a:rPr lang="en-US" sz="3750">
                  <a:solidFill>
                    <a:srgbClr val="0E1F43"/>
                  </a:solidFill>
                  <a:latin typeface="Sora"/>
                  <a:ea typeface="Sora"/>
                  <a:cs typeface="Sora"/>
                  <a:sym typeface="Sora"/>
                </a:rPr>
                <a:t>Microsoft 365 Developer</a:t>
              </a:r>
            </a:p>
            <a:p>
              <a:pPr algn="l" marL="809625" indent="-404812" lvl="1">
                <a:lnSpc>
                  <a:spcPts val="7500"/>
                </a:lnSpc>
                <a:buFont typeface="Arial"/>
                <a:buChar char="•"/>
              </a:pPr>
              <a:r>
                <a:rPr lang="en-US" sz="3750">
                  <a:solidFill>
                    <a:srgbClr val="0E1F43"/>
                  </a:solidFill>
                  <a:latin typeface="Sora"/>
                  <a:ea typeface="Sora"/>
                  <a:cs typeface="Sora"/>
                  <a:sym typeface="Sora"/>
                </a:rPr>
                <a:t>SharePoint Framework (SPFx)</a:t>
              </a:r>
            </a:p>
            <a:p>
              <a:pPr algn="l" marL="809625" indent="-404812" lvl="1">
                <a:lnSpc>
                  <a:spcPts val="7500"/>
                </a:lnSpc>
                <a:buFont typeface="Arial"/>
                <a:buChar char="•"/>
              </a:pPr>
              <a:r>
                <a:rPr lang="en-US" sz="3750">
                  <a:solidFill>
                    <a:srgbClr val="0E1F43"/>
                  </a:solidFill>
                  <a:latin typeface="Sora"/>
                  <a:ea typeface="Sora"/>
                  <a:cs typeface="Sora"/>
                  <a:sym typeface="Sora"/>
                </a:rPr>
                <a:t>Microsoft Teams Apps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2416378" y="484851"/>
              <a:ext cx="8313291" cy="3597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09625" indent="-404812" lvl="1">
                <a:lnSpc>
                  <a:spcPts val="7500"/>
                </a:lnSpc>
                <a:buFont typeface="Arial"/>
                <a:buChar char="•"/>
              </a:pPr>
              <a:r>
                <a:rPr lang="en-US" sz="3750">
                  <a:solidFill>
                    <a:srgbClr val="0E1F43"/>
                  </a:solidFill>
                  <a:latin typeface="Sora"/>
                  <a:ea typeface="Sora"/>
                  <a:cs typeface="Sora"/>
                  <a:sym typeface="Sora"/>
                </a:rPr>
                <a:t>Microsoft Azure</a:t>
              </a:r>
            </a:p>
            <a:p>
              <a:pPr algn="l" marL="809625" indent="-404812" lvl="1">
                <a:lnSpc>
                  <a:spcPts val="7500"/>
                </a:lnSpc>
                <a:buFont typeface="Arial"/>
                <a:buChar char="•"/>
              </a:pPr>
              <a:r>
                <a:rPr lang="en-US" sz="3750">
                  <a:solidFill>
                    <a:srgbClr val="0E1F43"/>
                  </a:solidFill>
                  <a:latin typeface="Sora"/>
                  <a:ea typeface="Sora"/>
                  <a:cs typeface="Sora"/>
                  <a:sym typeface="Sora"/>
                </a:rPr>
                <a:t>SharePoint Embedded</a:t>
              </a:r>
            </a:p>
            <a:p>
              <a:pPr algn="l" marL="809625" indent="-404812" lvl="1">
                <a:lnSpc>
                  <a:spcPts val="7500"/>
                </a:lnSpc>
                <a:buFont typeface="Arial"/>
                <a:buChar char="•"/>
              </a:pPr>
              <a:r>
                <a:rPr lang="en-US" sz="3750">
                  <a:solidFill>
                    <a:srgbClr val="0E1F43"/>
                  </a:solidFill>
                  <a:latin typeface="Sora"/>
                  <a:ea typeface="Sora"/>
                  <a:cs typeface="Sora"/>
                  <a:sym typeface="Sora"/>
                </a:rPr>
                <a:t>Microsoft 365 Copilot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71084" y="7013784"/>
            <a:ext cx="8741467" cy="14547432"/>
            <a:chOff x="0" y="0"/>
            <a:chExt cx="11655289" cy="1939657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2916747"/>
              <a:ext cx="11655289" cy="16479829"/>
              <a:chOff x="0" y="0"/>
              <a:chExt cx="1473459" cy="208337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473459" cy="2083376"/>
              </a:xfrm>
              <a:custGeom>
                <a:avLst/>
                <a:gdLst/>
                <a:ahLst/>
                <a:cxnLst/>
                <a:rect r="r" b="b" t="t" l="l"/>
                <a:pathLst>
                  <a:path h="2083376" w="1473459">
                    <a:moveTo>
                      <a:pt x="21622" y="0"/>
                    </a:moveTo>
                    <a:lnTo>
                      <a:pt x="1451836" y="0"/>
                    </a:lnTo>
                    <a:cubicBezTo>
                      <a:pt x="1463778" y="0"/>
                      <a:pt x="1473459" y="9681"/>
                      <a:pt x="1473459" y="21622"/>
                    </a:cubicBezTo>
                    <a:lnTo>
                      <a:pt x="1473459" y="2061753"/>
                    </a:lnTo>
                    <a:cubicBezTo>
                      <a:pt x="1473459" y="2067488"/>
                      <a:pt x="1471181" y="2072988"/>
                      <a:pt x="1467126" y="2077043"/>
                    </a:cubicBezTo>
                    <a:cubicBezTo>
                      <a:pt x="1463071" y="2081098"/>
                      <a:pt x="1457571" y="2083376"/>
                      <a:pt x="1451836" y="2083376"/>
                    </a:cubicBezTo>
                    <a:lnTo>
                      <a:pt x="21622" y="2083376"/>
                    </a:lnTo>
                    <a:cubicBezTo>
                      <a:pt x="15888" y="2083376"/>
                      <a:pt x="10388" y="2081098"/>
                      <a:pt x="6333" y="2077043"/>
                    </a:cubicBezTo>
                    <a:cubicBezTo>
                      <a:pt x="2278" y="2072988"/>
                      <a:pt x="0" y="2067488"/>
                      <a:pt x="0" y="2061753"/>
                    </a:cubicBezTo>
                    <a:lnTo>
                      <a:pt x="0" y="21622"/>
                    </a:lnTo>
                    <a:cubicBezTo>
                      <a:pt x="0" y="15888"/>
                      <a:pt x="2278" y="10388"/>
                      <a:pt x="6333" y="6333"/>
                    </a:cubicBezTo>
                    <a:cubicBezTo>
                      <a:pt x="10388" y="2278"/>
                      <a:pt x="15888" y="0"/>
                      <a:pt x="21622" y="0"/>
                    </a:cubicBezTo>
                    <a:close/>
                  </a:path>
                </a:pathLst>
              </a:custGeom>
              <a:solidFill>
                <a:srgbClr val="0E1F43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57150"/>
                <a:ext cx="1473459" cy="21405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56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910898" y="0"/>
              <a:ext cx="5833494" cy="5833494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0" r="0" b="0"/>
                </a:stretch>
              </a:blipFill>
            </p:spPr>
          </p:sp>
        </p:grpSp>
        <p:sp>
          <p:nvSpPr>
            <p:cNvPr name="Freeform 27" id="27"/>
            <p:cNvSpPr/>
            <p:nvPr/>
          </p:nvSpPr>
          <p:spPr>
            <a:xfrm flipH="false" flipV="false" rot="0">
              <a:off x="2554452" y="10413022"/>
              <a:ext cx="6546385" cy="6546385"/>
            </a:xfrm>
            <a:custGeom>
              <a:avLst/>
              <a:gdLst/>
              <a:ahLst/>
              <a:cxnLst/>
              <a:rect r="r" b="b" t="t" l="l"/>
              <a:pathLst>
                <a:path h="6546385" w="6546385">
                  <a:moveTo>
                    <a:pt x="0" y="0"/>
                  </a:moveTo>
                  <a:lnTo>
                    <a:pt x="6546385" y="0"/>
                  </a:lnTo>
                  <a:lnTo>
                    <a:pt x="6546385" y="6546385"/>
                  </a:lnTo>
                  <a:lnTo>
                    <a:pt x="0" y="6546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1449540" y="7679105"/>
              <a:ext cx="8756210" cy="1668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62"/>
                </a:lnSpc>
              </a:pPr>
              <a:r>
                <a:rPr lang="en-US" sz="3750">
                  <a:solidFill>
                    <a:srgbClr val="F4F1EA"/>
                  </a:solidFill>
                  <a:latin typeface="Sora"/>
                  <a:ea typeface="Sora"/>
                  <a:cs typeface="Sora"/>
                  <a:sym typeface="Sora"/>
                </a:rPr>
                <a:t>Developer · Instructor Writer · Speaker · Coach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5756449"/>
              <a:ext cx="11655289" cy="1689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718"/>
                </a:lnSpc>
              </a:pPr>
              <a:r>
                <a:rPr lang="en-US" sz="7656" b="true">
                  <a:solidFill>
                    <a:srgbClr val="F4F1EA"/>
                  </a:solidFill>
                  <a:latin typeface="Sora Semi-Bold"/>
                  <a:ea typeface="Sora Semi-Bold"/>
                  <a:cs typeface="Sora Semi-Bold"/>
                  <a:sym typeface="Sora Semi-Bold"/>
                </a:rPr>
                <a:t>Andrew Connell</a:t>
              </a:r>
            </a:p>
          </p:txBody>
        </p:sp>
        <p:sp>
          <p:nvSpPr>
            <p:cNvPr name="Freeform 30" id="30"/>
            <p:cNvSpPr/>
            <p:nvPr/>
          </p:nvSpPr>
          <p:spPr>
            <a:xfrm flipH="false" flipV="false" rot="0">
              <a:off x="7102551" y="17724107"/>
              <a:ext cx="1093363" cy="1093363"/>
            </a:xfrm>
            <a:custGeom>
              <a:avLst/>
              <a:gdLst/>
              <a:ahLst/>
              <a:cxnLst/>
              <a:rect r="r" b="b" t="t" l="l"/>
              <a:pathLst>
                <a:path h="1093363" w="1093363">
                  <a:moveTo>
                    <a:pt x="0" y="0"/>
                  </a:moveTo>
                  <a:lnTo>
                    <a:pt x="1093363" y="0"/>
                  </a:lnTo>
                  <a:lnTo>
                    <a:pt x="1093363" y="1093362"/>
                  </a:lnTo>
                  <a:lnTo>
                    <a:pt x="0" y="1093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3459375" y="17724107"/>
              <a:ext cx="1093363" cy="1093363"/>
            </a:xfrm>
            <a:custGeom>
              <a:avLst/>
              <a:gdLst/>
              <a:ahLst/>
              <a:cxnLst/>
              <a:rect r="r" b="b" t="t" l="l"/>
              <a:pathLst>
                <a:path h="1093363" w="1093363">
                  <a:moveTo>
                    <a:pt x="0" y="0"/>
                  </a:moveTo>
                  <a:lnTo>
                    <a:pt x="1093362" y="0"/>
                  </a:lnTo>
                  <a:lnTo>
                    <a:pt x="1093362" y="1093362"/>
                  </a:lnTo>
                  <a:lnTo>
                    <a:pt x="0" y="1093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5049969" y="17735223"/>
              <a:ext cx="1556489" cy="1082246"/>
            </a:xfrm>
            <a:custGeom>
              <a:avLst/>
              <a:gdLst/>
              <a:ahLst/>
              <a:cxnLst/>
              <a:rect r="r" b="b" t="t" l="l"/>
              <a:pathLst>
                <a:path h="1082246" w="1556489">
                  <a:moveTo>
                    <a:pt x="0" y="0"/>
                  </a:moveTo>
                  <a:lnTo>
                    <a:pt x="1556489" y="0"/>
                  </a:lnTo>
                  <a:lnTo>
                    <a:pt x="1556489" y="1082246"/>
                  </a:lnTo>
                  <a:lnTo>
                    <a:pt x="0" y="1082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07344" y="7941017"/>
            <a:ext cx="8235774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00"/>
              </a:lnSpc>
              <a:spcBef>
                <a:spcPct val="0"/>
              </a:spcBef>
            </a:pPr>
            <a:r>
              <a:rPr lang="en-US" b="true" sz="12500">
                <a:solidFill>
                  <a:srgbClr val="0E1F43"/>
                </a:solidFill>
                <a:latin typeface="Sora Semi-Bold"/>
                <a:ea typeface="Sora Semi-Bold"/>
                <a:cs typeface="Sora Semi-Bold"/>
                <a:sym typeface="Sora Semi-Bold"/>
              </a:rPr>
              <a:t>Agenda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141989" y="7169492"/>
            <a:ext cx="17701828" cy="765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49377" indent="-674688" lvl="1">
              <a:lnSpc>
                <a:spcPts val="15625"/>
              </a:lnSpc>
              <a:buFont typeface="Arial"/>
              <a:buChar char="•"/>
            </a:pPr>
            <a:r>
              <a:rPr lang="en-US" b="true" sz="6250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Overview Heft-based toolchain</a:t>
            </a:r>
          </a:p>
          <a:p>
            <a:pPr algn="l" marL="1349377" indent="-674688" lvl="1">
              <a:lnSpc>
                <a:spcPts val="15625"/>
              </a:lnSpc>
              <a:buFont typeface="Arial"/>
              <a:buChar char="•"/>
            </a:pPr>
            <a:r>
              <a:rPr lang="en-US" b="true" sz="6250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Moving from Gulp to Heft</a:t>
            </a:r>
          </a:p>
          <a:p>
            <a:pPr algn="l" marL="1349377" indent="-674688" lvl="1">
              <a:lnSpc>
                <a:spcPts val="15625"/>
              </a:lnSpc>
              <a:buFont typeface="Arial"/>
              <a:buChar char="•"/>
            </a:pPr>
            <a:r>
              <a:rPr lang="en-US" b="true" sz="6250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How the Heft-based toolchain works</a:t>
            </a:r>
          </a:p>
          <a:p>
            <a:pPr algn="l" marL="1349377" indent="-674688" lvl="1">
              <a:lnSpc>
                <a:spcPts val="15625"/>
              </a:lnSpc>
              <a:buFont typeface="Arial"/>
              <a:buChar char="•"/>
            </a:pPr>
            <a:r>
              <a:rPr lang="en-US" b="true" sz="6250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Customize &amp; extend the Heft-toolchain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0E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0" y="6686614"/>
            <a:ext cx="11295846" cy="11295846"/>
          </a:xfrm>
          <a:custGeom>
            <a:avLst/>
            <a:gdLst/>
            <a:ahLst/>
            <a:cxnLst/>
            <a:rect r="r" b="b" t="t" l="l"/>
            <a:pathLst>
              <a:path h="11295846" w="11295846">
                <a:moveTo>
                  <a:pt x="0" y="0"/>
                </a:moveTo>
                <a:lnTo>
                  <a:pt x="11295846" y="0"/>
                </a:lnTo>
                <a:lnTo>
                  <a:pt x="11295846" y="11295846"/>
                </a:lnTo>
                <a:lnTo>
                  <a:pt x="0" y="112958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1058" y="9447272"/>
            <a:ext cx="8643891" cy="288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37"/>
              </a:lnSpc>
              <a:spcBef>
                <a:spcPct val="0"/>
              </a:spcBef>
            </a:pPr>
            <a:r>
              <a:rPr lang="en-US" b="true" sz="9531">
                <a:solidFill>
                  <a:srgbClr val="FFFFFF"/>
                </a:solidFill>
                <a:latin typeface="Sora Bold"/>
                <a:ea typeface="Sora Bold"/>
                <a:cs typeface="Sora Bold"/>
                <a:sym typeface="Sora Bold"/>
              </a:rPr>
              <a:t>Get the slides &amp; more!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21058" y="14382750"/>
            <a:ext cx="8643891" cy="131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6"/>
              </a:lnSpc>
            </a:pPr>
            <a:r>
              <a:rPr lang="en-US" sz="5156">
                <a:solidFill>
                  <a:srgbClr val="FFFFFF"/>
                </a:solidFill>
                <a:latin typeface="Sora Extra-Light"/>
                <a:ea typeface="Sora Extra-Light"/>
                <a:cs typeface="Sora Extra-Light"/>
                <a:sym typeface="Sora Extra-Light"/>
              </a:rPr>
              <a:t>available thru</a:t>
            </a:r>
          </a:p>
          <a:p>
            <a:pPr algn="ctr" marL="0" indent="0" lvl="0">
              <a:lnSpc>
                <a:spcPts val="5156"/>
              </a:lnSpc>
            </a:pPr>
            <a:r>
              <a:rPr lang="en-US" sz="5156">
                <a:solidFill>
                  <a:srgbClr val="FFFFFF"/>
                </a:solidFill>
                <a:latin typeface="Sora Extra-Light"/>
                <a:ea typeface="Sora Extra-Light"/>
                <a:cs typeface="Sora Extra-Light"/>
                <a:sym typeface="Sora Extra-Light"/>
              </a:rPr>
              <a:t>Monday, </a:t>
            </a:r>
            <a:r>
              <a:rPr lang="en-US" b="true" sz="5156">
                <a:solidFill>
                  <a:srgbClr val="FFDE59"/>
                </a:solidFill>
                <a:latin typeface="Sora Bold"/>
                <a:ea typeface="Sora Bold"/>
                <a:cs typeface="Sora Bold"/>
                <a:sym typeface="Sora Bold"/>
              </a:rPr>
              <a:t>December 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44848" y="18290472"/>
            <a:ext cx="17885304" cy="3017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2"/>
              </a:lnSpc>
            </a:pPr>
            <a:r>
              <a:rPr lang="en-US" sz="16009" b="true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vtns.io/20251204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6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1515" y="11444189"/>
            <a:ext cx="22671969" cy="581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4"/>
              </a:lnSpc>
            </a:pPr>
            <a:r>
              <a:rPr lang="en-US" sz="13749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Overview</a:t>
            </a:r>
          </a:p>
          <a:p>
            <a:pPr algn="ctr">
              <a:lnSpc>
                <a:spcPts val="15124"/>
              </a:lnSpc>
            </a:pPr>
            <a:r>
              <a:rPr lang="en-US" sz="13749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Heft</a:t>
            </a:r>
          </a:p>
          <a:p>
            <a:pPr algn="ctr">
              <a:lnSpc>
                <a:spcPts val="15124"/>
              </a:lnSpc>
            </a:pPr>
            <a:r>
              <a:rPr lang="en-US" sz="13749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SharePoint Framework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3803822" y="2446959"/>
            <a:ext cx="10822332" cy="10822332"/>
          </a:xfrm>
          <a:custGeom>
            <a:avLst/>
            <a:gdLst/>
            <a:ahLst/>
            <a:cxnLst/>
            <a:rect r="r" b="b" t="t" l="l"/>
            <a:pathLst>
              <a:path h="10822332" w="10822332">
                <a:moveTo>
                  <a:pt x="0" y="0"/>
                </a:moveTo>
                <a:lnTo>
                  <a:pt x="10822332" y="0"/>
                </a:lnTo>
                <a:lnTo>
                  <a:pt x="10822332" y="10822332"/>
                </a:lnTo>
                <a:lnTo>
                  <a:pt x="0" y="108223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929264" y="17254636"/>
            <a:ext cx="7235422" cy="7235422"/>
          </a:xfrm>
          <a:custGeom>
            <a:avLst/>
            <a:gdLst/>
            <a:ahLst/>
            <a:cxnLst/>
            <a:rect r="r" b="b" t="t" l="l"/>
            <a:pathLst>
              <a:path h="7235422" w="7235422">
                <a:moveTo>
                  <a:pt x="0" y="0"/>
                </a:moveTo>
                <a:lnTo>
                  <a:pt x="7235422" y="0"/>
                </a:lnTo>
                <a:lnTo>
                  <a:pt x="7235422" y="7235423"/>
                </a:lnTo>
                <a:lnTo>
                  <a:pt x="0" y="7235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07344" y="7119640"/>
            <a:ext cx="25360312" cy="159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75"/>
              </a:lnSpc>
            </a:pPr>
            <a:r>
              <a:rPr lang="en-US" b="true" sz="11250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SPFx v1.22 ▶ Gulp is out; Heft is in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07344" y="9064257"/>
            <a:ext cx="25360313" cy="12023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90824" indent="-595412" lvl="1">
              <a:lnSpc>
                <a:spcPts val="9321"/>
              </a:lnSpc>
              <a:buFont typeface="Arial"/>
              <a:buChar char="•"/>
            </a:pPr>
            <a:r>
              <a:rPr lang="en-US" b="true" sz="551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Many projects use a task runner to instrument multiple tasks</a:t>
            </a:r>
          </a:p>
          <a:p>
            <a:pPr algn="l" marL="2381649" indent="-793883" lvl="2">
              <a:lnSpc>
                <a:spcPts val="9321"/>
              </a:lnSpc>
              <a:buFont typeface="Arial"/>
              <a:buChar char="⚬"/>
            </a:pPr>
            <a:r>
              <a:rPr lang="en-US" sz="551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Make (x-platform)</a:t>
            </a:r>
          </a:p>
          <a:p>
            <a:pPr algn="l" marL="2381649" indent="-793883" lvl="2">
              <a:lnSpc>
                <a:spcPts val="9321"/>
              </a:lnSpc>
              <a:buFont typeface="Arial"/>
              <a:buChar char="⚬"/>
            </a:pPr>
            <a:r>
              <a:rPr lang="en-US" sz="551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MS Build (dotNET)</a:t>
            </a:r>
          </a:p>
          <a:p>
            <a:pPr algn="l" marL="2381649" indent="-793883" lvl="2">
              <a:lnSpc>
                <a:spcPts val="9321"/>
              </a:lnSpc>
              <a:buFont typeface="Arial"/>
              <a:buChar char="⚬"/>
            </a:pPr>
            <a:r>
              <a:rPr lang="en-US" sz="551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Ant (Java)</a:t>
            </a:r>
          </a:p>
          <a:p>
            <a:pPr algn="l" marL="2381649" indent="-793883" lvl="2">
              <a:lnSpc>
                <a:spcPts val="9321"/>
              </a:lnSpc>
              <a:buFont typeface="Arial"/>
              <a:buChar char="⚬"/>
            </a:pPr>
            <a:r>
              <a:rPr lang="en-US" sz="551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Gradle (Android)</a:t>
            </a:r>
          </a:p>
          <a:p>
            <a:pPr algn="l" marL="2381649" indent="-793883" lvl="2">
              <a:lnSpc>
                <a:spcPts val="9321"/>
              </a:lnSpc>
              <a:buFont typeface="Arial"/>
              <a:buChar char="⚬"/>
            </a:pPr>
            <a:r>
              <a:rPr lang="en-US" sz="551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Gulp (JavaScript)</a:t>
            </a:r>
          </a:p>
          <a:p>
            <a:pPr algn="l" marL="2381649" indent="-793883" lvl="2">
              <a:lnSpc>
                <a:spcPts val="9321"/>
              </a:lnSpc>
              <a:buFont typeface="Arial"/>
              <a:buChar char="⚬"/>
            </a:pPr>
            <a:r>
              <a:rPr lang="en-US" sz="551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Heft (JavaScript)</a:t>
            </a:r>
          </a:p>
          <a:p>
            <a:pPr algn="l">
              <a:lnSpc>
                <a:spcPts val="2757"/>
              </a:lnSpc>
            </a:pPr>
          </a:p>
          <a:p>
            <a:pPr algn="l" marL="1190824" indent="-595412" lvl="1">
              <a:lnSpc>
                <a:spcPts val="9321"/>
              </a:lnSpc>
              <a:buFont typeface="Arial"/>
              <a:buChar char="•"/>
            </a:pPr>
            <a:r>
              <a:rPr lang="en-US" b="true" sz="551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SharePoint Framework </a:t>
            </a:r>
          </a:p>
          <a:p>
            <a:pPr algn="l" marL="2381649" indent="-793883" lvl="2">
              <a:lnSpc>
                <a:spcPts val="9321"/>
              </a:lnSpc>
              <a:buFont typeface="Arial"/>
              <a:buChar char="⚬"/>
            </a:pPr>
            <a:r>
              <a:rPr lang="en-US" sz="551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Used g</a:t>
            </a:r>
            <a:r>
              <a:rPr lang="en-US" sz="551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ulp from initial v1.0 release up through v1.21.1</a:t>
            </a:r>
          </a:p>
          <a:p>
            <a:pPr algn="l" marL="2381649" indent="-793883" lvl="2">
              <a:lnSpc>
                <a:spcPts val="9321"/>
              </a:lnSpc>
              <a:buFont typeface="Arial"/>
              <a:buChar char="⚬"/>
            </a:pPr>
            <a:r>
              <a:rPr lang="en-US" sz="551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SPFx v1.22 replaces gulp-based toolchain with </a:t>
            </a:r>
            <a:r>
              <a:rPr lang="en-US" b="true" sz="551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Heft</a:t>
            </a:r>
          </a:p>
        </p:txBody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891086" y="9330957"/>
            <a:ext cx="8377211" cy="8152319"/>
          </a:xfrm>
          <a:custGeom>
            <a:avLst/>
            <a:gdLst/>
            <a:ahLst/>
            <a:cxnLst/>
            <a:rect r="r" b="b" t="t" l="l"/>
            <a:pathLst>
              <a:path h="8152319" w="8377211">
                <a:moveTo>
                  <a:pt x="0" y="0"/>
                </a:moveTo>
                <a:lnTo>
                  <a:pt x="8377210" y="0"/>
                </a:lnTo>
                <a:lnTo>
                  <a:pt x="8377210" y="8152320"/>
                </a:lnTo>
                <a:lnTo>
                  <a:pt x="0" y="8152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07344" y="7119640"/>
            <a:ext cx="25360312" cy="159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75"/>
              </a:lnSpc>
            </a:pPr>
            <a:r>
              <a:rPr lang="en-US" b="true" sz="11250">
                <a:solidFill>
                  <a:srgbClr val="0E1F43"/>
                </a:solidFill>
                <a:latin typeface="Sora Semi-Bold"/>
                <a:ea typeface="Sora Semi-Bold"/>
                <a:cs typeface="Sora Semi-Bold"/>
                <a:sym typeface="Sora Semi-Bold"/>
              </a:rPr>
              <a:t>What is Heft?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7578" y="8645157"/>
            <a:ext cx="20016873" cy="937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90824" indent="-595412" lvl="1">
              <a:lnSpc>
                <a:spcPts val="13789"/>
              </a:lnSpc>
              <a:buFont typeface="Arial"/>
              <a:buChar char="•"/>
            </a:pPr>
            <a:r>
              <a:rPr lang="en-US" b="true" sz="551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Part of Rush Stack</a:t>
            </a:r>
          </a:p>
          <a:p>
            <a:pPr algn="l" marL="1190824" indent="-595412" lvl="1">
              <a:lnSpc>
                <a:spcPts val="13789"/>
              </a:lnSpc>
              <a:buFont typeface="Arial"/>
              <a:buChar char="•"/>
            </a:pPr>
            <a:r>
              <a:rPr lang="en-US" b="true" sz="551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Serves same role as gulp · task runner / orchestrator</a:t>
            </a:r>
          </a:p>
          <a:p>
            <a:pPr algn="l" marL="1190824" indent="-595412" lvl="1">
              <a:lnSpc>
                <a:spcPts val="13789"/>
              </a:lnSpc>
              <a:buFont typeface="Arial"/>
              <a:buChar char="•"/>
            </a:pPr>
            <a:r>
              <a:rPr lang="en-US" b="true" sz="551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Configuration-driven toolchain </a:t>
            </a:r>
          </a:p>
          <a:p>
            <a:pPr algn="l" marL="1190824" indent="-595412" lvl="1">
              <a:lnSpc>
                <a:spcPts val="13789"/>
              </a:lnSpc>
              <a:buFont typeface="Arial"/>
              <a:buChar char="•"/>
            </a:pPr>
            <a:r>
              <a:rPr lang="en-US" b="true" sz="551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Impact to the SPFx build chain</a:t>
            </a:r>
          </a:p>
          <a:p>
            <a:pPr algn="l" marL="2381649" indent="-793883" lvl="2">
              <a:lnSpc>
                <a:spcPts val="9321"/>
              </a:lnSpc>
              <a:buFont typeface="Arial"/>
              <a:buChar char="⚬"/>
            </a:pPr>
            <a:r>
              <a:rPr lang="en-US" sz="551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Fundamentally, no change in tech stack</a:t>
            </a:r>
          </a:p>
          <a:p>
            <a:pPr algn="l" marL="2381649" indent="-793883" lvl="2">
              <a:lnSpc>
                <a:spcPts val="9321"/>
              </a:lnSpc>
              <a:buFont typeface="Arial"/>
              <a:buChar char="⚬"/>
            </a:pPr>
            <a:r>
              <a:rPr lang="en-US" sz="551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Still using TypeScript, ESLint, Sass, Webpack</a:t>
            </a:r>
          </a:p>
        </p:txBody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07344" y="7119640"/>
            <a:ext cx="25360312" cy="159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75"/>
              </a:lnSpc>
            </a:pPr>
            <a:r>
              <a:rPr lang="en-US" b="true" sz="11250">
                <a:solidFill>
                  <a:srgbClr val="0E1F43"/>
                </a:solidFill>
                <a:latin typeface="Sora Semi-Bold"/>
                <a:ea typeface="Sora Semi-Bold"/>
                <a:cs typeface="Sora Semi-Bold"/>
                <a:sym typeface="Sora Semi-Bold"/>
              </a:rPr>
              <a:t>Why change from Gulp ▶ Heft?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07344" y="9130932"/>
            <a:ext cx="25360313" cy="1264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0956" indent="-460478" lvl="1">
              <a:lnSpc>
                <a:spcPts val="7208"/>
              </a:lnSpc>
              <a:buFont typeface="Arial"/>
              <a:buChar char="•"/>
            </a:pPr>
            <a:r>
              <a:rPr lang="en-US" b="true" sz="426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Community demand</a:t>
            </a:r>
          </a:p>
          <a:p>
            <a:pPr algn="l" marL="1841912" indent="-613971" lvl="2">
              <a:lnSpc>
                <a:spcPts val="7208"/>
              </a:lnSpc>
              <a:buFont typeface="Arial"/>
              <a:buChar char="⚬"/>
            </a:pPr>
            <a:r>
              <a:rPr lang="en-US" sz="426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Consistent request build process transparency &amp; extensions</a:t>
            </a:r>
          </a:p>
          <a:p>
            <a:pPr algn="l" marL="920956" indent="-460478" lvl="1">
              <a:lnSpc>
                <a:spcPts val="7208"/>
              </a:lnSpc>
              <a:buFont typeface="Arial"/>
              <a:buChar char="•"/>
            </a:pPr>
            <a:r>
              <a:rPr lang="en-US" b="true" sz="426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"Black box" problem</a:t>
            </a:r>
          </a:p>
          <a:p>
            <a:pPr algn="l" marL="1841912" indent="-613971" lvl="2">
              <a:lnSpc>
                <a:spcPts val="7208"/>
              </a:lnSpc>
              <a:buFont typeface="Arial"/>
              <a:buChar char="⚬"/>
            </a:pPr>
            <a:r>
              <a:rPr lang="en-US" sz="426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Previously, the legacy gulp-based toolchain were obfuscated</a:t>
            </a:r>
          </a:p>
          <a:p>
            <a:pPr algn="l" marL="920956" indent="-460478" lvl="1">
              <a:lnSpc>
                <a:spcPts val="7208"/>
              </a:lnSpc>
              <a:buFont typeface="Arial"/>
              <a:buChar char="•"/>
            </a:pPr>
            <a:r>
              <a:rPr lang="en-US" b="true" sz="426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Lack of </a:t>
            </a:r>
            <a:r>
              <a:rPr lang="en-US" b="true" sz="426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plugin architecture</a:t>
            </a:r>
          </a:p>
          <a:p>
            <a:pPr algn="l" marL="1841912" indent="-613971" lvl="2">
              <a:lnSpc>
                <a:spcPts val="7208"/>
              </a:lnSpc>
              <a:buFont typeface="Arial"/>
              <a:buChar char="⚬"/>
            </a:pPr>
            <a:r>
              <a:rPr lang="en-US" sz="426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Legacy gulp-based toolchain lacked a c</a:t>
            </a:r>
            <a:r>
              <a:rPr lang="en-US" sz="426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lean, maintainable way to supp</a:t>
            </a:r>
            <a:r>
              <a:rPr lang="en-US" sz="426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ort future changes and </a:t>
            </a:r>
            <a:r>
              <a:rPr lang="en-US" sz="426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extensions</a:t>
            </a:r>
          </a:p>
          <a:p>
            <a:pPr algn="l" marL="920956" indent="-460478" lvl="1">
              <a:lnSpc>
                <a:spcPts val="7208"/>
              </a:lnSpc>
              <a:buFont typeface="Arial"/>
              <a:buChar char="•"/>
            </a:pPr>
            <a:r>
              <a:rPr lang="en-US" b="true" sz="426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Alignment between Mi</a:t>
            </a:r>
            <a:r>
              <a:rPr lang="en-US" b="true" sz="426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crosoft and external (3P developers</a:t>
            </a:r>
          </a:p>
          <a:p>
            <a:pPr algn="l" marL="1841912" indent="-613971" lvl="2">
              <a:lnSpc>
                <a:spcPts val="7208"/>
              </a:lnSpc>
              <a:buFont typeface="Arial"/>
              <a:buChar char="⚬"/>
            </a:pPr>
            <a:r>
              <a:rPr lang="en-US" sz="426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Developers now use the same build system, creating a unified experience</a:t>
            </a:r>
          </a:p>
          <a:p>
            <a:pPr algn="l" marL="920956" indent="-460478" lvl="1">
              <a:lnSpc>
                <a:spcPts val="7208"/>
              </a:lnSpc>
              <a:buFont typeface="Arial"/>
              <a:buChar char="•"/>
            </a:pPr>
            <a:r>
              <a:rPr lang="en-US" b="true" sz="426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Faster feature delivery</a:t>
            </a:r>
          </a:p>
          <a:p>
            <a:pPr algn="l" marL="1841912" indent="-613971" lvl="2">
              <a:lnSpc>
                <a:spcPts val="7208"/>
              </a:lnSpc>
              <a:buFont typeface="Arial"/>
              <a:buChar char="⚬"/>
            </a:pPr>
            <a:r>
              <a:rPr lang="en-US" sz="426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Improvements and updates benefit both Microsoft and the SPFx community</a:t>
            </a:r>
          </a:p>
          <a:p>
            <a:pPr algn="l" marL="920956" indent="-460478" lvl="1">
              <a:lnSpc>
                <a:spcPts val="7208"/>
              </a:lnSpc>
              <a:buFont typeface="Arial"/>
              <a:buChar char="•"/>
            </a:pPr>
            <a:r>
              <a:rPr lang="en-US" b="true" sz="426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Better long-term sustainability</a:t>
            </a:r>
          </a:p>
          <a:p>
            <a:pPr algn="l" marL="1841912" indent="-613971" lvl="2">
              <a:lnSpc>
                <a:spcPts val="7208"/>
              </a:lnSpc>
              <a:buFont typeface="Arial"/>
              <a:buChar char="⚬"/>
            </a:pPr>
            <a:r>
              <a:rPr lang="en-US" sz="426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Actively maintained by Microsoft</a:t>
            </a:r>
          </a:p>
          <a:p>
            <a:pPr algn="l" marL="1841912" indent="-613971" lvl="2">
              <a:lnSpc>
                <a:spcPts val="7208"/>
              </a:lnSpc>
              <a:buFont typeface="Arial"/>
              <a:buChar char="⚬"/>
            </a:pPr>
            <a:r>
              <a:rPr lang="en-US" sz="426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K</a:t>
            </a:r>
            <a:r>
              <a:rPr lang="en-US" sz="426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ept current with modern development standards and security practices</a:t>
            </a:r>
          </a:p>
        </p:txBody>
      </p: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07344" y="7206258"/>
            <a:ext cx="25360312" cy="139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28"/>
              </a:lnSpc>
            </a:pPr>
            <a:r>
              <a:rPr lang="en-US" b="true" sz="9843">
                <a:solidFill>
                  <a:srgbClr val="0E1F43"/>
                </a:solidFill>
                <a:latin typeface="Sora Semi-Bold"/>
                <a:ea typeface="Sora Semi-Bold"/>
                <a:cs typeface="Sora Semi-Bold"/>
                <a:sym typeface="Sora Semi-Bold"/>
              </a:rPr>
              <a:t>SharePoint Framework project impact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180831" y="8895055"/>
            <a:ext cx="16213339" cy="10304707"/>
            <a:chOff x="0" y="0"/>
            <a:chExt cx="21617785" cy="1373960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2269767"/>
              <a:ext cx="9431418" cy="11469842"/>
              <a:chOff x="0" y="0"/>
              <a:chExt cx="1192318" cy="145001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192318" cy="1450015"/>
              </a:xfrm>
              <a:custGeom>
                <a:avLst/>
                <a:gdLst/>
                <a:ahLst/>
                <a:cxnLst/>
                <a:rect r="r" b="b" t="t" l="l"/>
                <a:pathLst>
                  <a:path h="1450015" w="1192318">
                    <a:moveTo>
                      <a:pt x="26721" y="0"/>
                    </a:moveTo>
                    <a:lnTo>
                      <a:pt x="1165597" y="0"/>
                    </a:lnTo>
                    <a:cubicBezTo>
                      <a:pt x="1180354" y="0"/>
                      <a:pt x="1192318" y="11963"/>
                      <a:pt x="1192318" y="26721"/>
                    </a:cubicBezTo>
                    <a:lnTo>
                      <a:pt x="1192318" y="1423294"/>
                    </a:lnTo>
                    <a:cubicBezTo>
                      <a:pt x="1192318" y="1438051"/>
                      <a:pt x="1180354" y="1450015"/>
                      <a:pt x="1165597" y="1450015"/>
                    </a:cubicBezTo>
                    <a:lnTo>
                      <a:pt x="26721" y="1450015"/>
                    </a:lnTo>
                    <a:cubicBezTo>
                      <a:pt x="11963" y="1450015"/>
                      <a:pt x="0" y="1438051"/>
                      <a:pt x="0" y="1423294"/>
                    </a:cubicBezTo>
                    <a:lnTo>
                      <a:pt x="0" y="26721"/>
                    </a:lnTo>
                    <a:cubicBezTo>
                      <a:pt x="0" y="11963"/>
                      <a:pt x="11963" y="0"/>
                      <a:pt x="26721" y="0"/>
                    </a:cubicBezTo>
                    <a:close/>
                  </a:path>
                </a:pathLst>
              </a:custGeom>
              <a:solidFill>
                <a:srgbClr val="0E1F43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57150"/>
                <a:ext cx="1192318" cy="15071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56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2186367" y="2269767"/>
              <a:ext cx="9431418" cy="11469842"/>
              <a:chOff x="0" y="0"/>
              <a:chExt cx="1192318" cy="145001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192318" cy="1450015"/>
              </a:xfrm>
              <a:custGeom>
                <a:avLst/>
                <a:gdLst/>
                <a:ahLst/>
                <a:cxnLst/>
                <a:rect r="r" b="b" t="t" l="l"/>
                <a:pathLst>
                  <a:path h="1450015" w="1192318">
                    <a:moveTo>
                      <a:pt x="26721" y="0"/>
                    </a:moveTo>
                    <a:lnTo>
                      <a:pt x="1165597" y="0"/>
                    </a:lnTo>
                    <a:cubicBezTo>
                      <a:pt x="1180354" y="0"/>
                      <a:pt x="1192318" y="11963"/>
                      <a:pt x="1192318" y="26721"/>
                    </a:cubicBezTo>
                    <a:lnTo>
                      <a:pt x="1192318" y="1423294"/>
                    </a:lnTo>
                    <a:cubicBezTo>
                      <a:pt x="1192318" y="1438051"/>
                      <a:pt x="1180354" y="1450015"/>
                      <a:pt x="1165597" y="1450015"/>
                    </a:cubicBezTo>
                    <a:lnTo>
                      <a:pt x="26721" y="1450015"/>
                    </a:lnTo>
                    <a:cubicBezTo>
                      <a:pt x="11963" y="1450015"/>
                      <a:pt x="0" y="1438051"/>
                      <a:pt x="0" y="1423294"/>
                    </a:cubicBezTo>
                    <a:lnTo>
                      <a:pt x="0" y="26721"/>
                    </a:lnTo>
                    <a:cubicBezTo>
                      <a:pt x="0" y="11963"/>
                      <a:pt x="11963" y="0"/>
                      <a:pt x="26721" y="0"/>
                    </a:cubicBezTo>
                    <a:close/>
                  </a:path>
                </a:pathLst>
              </a:custGeom>
              <a:solidFill>
                <a:srgbClr val="0E1F4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1192318" cy="15071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56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445942" y="0"/>
              <a:ext cx="4539535" cy="4539535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620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56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735564" y="1070411"/>
              <a:ext cx="3960289" cy="2465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18"/>
                </a:lnSpc>
              </a:pPr>
              <a:r>
                <a:rPr lang="en-US" sz="6562" b="true">
                  <a:solidFill>
                    <a:srgbClr val="F4F1EA"/>
                  </a:solidFill>
                  <a:latin typeface="Sora Semi-Bold"/>
                  <a:ea typeface="Sora Semi-Bold"/>
                  <a:cs typeface="Sora Semi-Bold"/>
                  <a:sym typeface="Sora Semi-Bold"/>
                </a:rPr>
                <a:t>v1.0 - v1.21.1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916058" y="5277722"/>
              <a:ext cx="7599302" cy="70828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49"/>
                </a:lnSpc>
              </a:pPr>
              <a:r>
                <a:rPr lang="en-US" sz="4374" b="true">
                  <a:solidFill>
                    <a:srgbClr val="F4F1EA"/>
                  </a:solidFill>
                  <a:latin typeface="Sora Bold"/>
                  <a:ea typeface="Sora Bold"/>
                  <a:cs typeface="Sora Bold"/>
                  <a:sym typeface="Sora Bold"/>
                </a:rPr>
                <a:t>Gulp</a:t>
              </a:r>
            </a:p>
            <a:p>
              <a:pPr algn="ctr">
                <a:lnSpc>
                  <a:spcPts val="8749"/>
                </a:lnSpc>
              </a:pPr>
              <a:r>
                <a:rPr lang="en-US" sz="4374">
                  <a:solidFill>
                    <a:srgbClr val="F4F1EA"/>
                  </a:solidFill>
                  <a:latin typeface="Sora"/>
                  <a:ea typeface="Sora"/>
                  <a:cs typeface="Sora"/>
                  <a:sym typeface="Sora"/>
                </a:rPr>
                <a:t>TypeScript</a:t>
              </a:r>
            </a:p>
            <a:p>
              <a:pPr algn="ctr">
                <a:lnSpc>
                  <a:spcPts val="8749"/>
                </a:lnSpc>
              </a:pPr>
              <a:r>
                <a:rPr lang="en-US" sz="4374">
                  <a:solidFill>
                    <a:srgbClr val="F4F1EA"/>
                  </a:solidFill>
                  <a:latin typeface="Sora"/>
                  <a:ea typeface="Sora"/>
                  <a:cs typeface="Sora"/>
                  <a:sym typeface="Sora"/>
                </a:rPr>
                <a:t>ESLint</a:t>
              </a:r>
            </a:p>
            <a:p>
              <a:pPr algn="ctr">
                <a:lnSpc>
                  <a:spcPts val="8749"/>
                </a:lnSpc>
              </a:pPr>
              <a:r>
                <a:rPr lang="en-US" sz="4374">
                  <a:solidFill>
                    <a:srgbClr val="F4F1EA"/>
                  </a:solidFill>
                  <a:latin typeface="Sora"/>
                  <a:ea typeface="Sora"/>
                  <a:cs typeface="Sora"/>
                  <a:sym typeface="Sora"/>
                </a:rPr>
                <a:t>Sass</a:t>
              </a:r>
            </a:p>
            <a:p>
              <a:pPr algn="ctr">
                <a:lnSpc>
                  <a:spcPts val="8749"/>
                </a:lnSpc>
              </a:pPr>
              <a:r>
                <a:rPr lang="en-US" sz="4374">
                  <a:solidFill>
                    <a:srgbClr val="F4F1EA"/>
                  </a:solidFill>
                  <a:latin typeface="Sora"/>
                  <a:ea typeface="Sora"/>
                  <a:cs typeface="Sora"/>
                  <a:sym typeface="Sora"/>
                </a:rPr>
                <a:t>webpack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3102425" y="5277722"/>
              <a:ext cx="7599302" cy="70828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49"/>
                </a:lnSpc>
              </a:pPr>
              <a:r>
                <a:rPr lang="en-US" sz="4374" b="true">
                  <a:solidFill>
                    <a:srgbClr val="F4F1EA"/>
                  </a:solidFill>
                  <a:latin typeface="Sora Bold"/>
                  <a:ea typeface="Sora Bold"/>
                  <a:cs typeface="Sora Bold"/>
                  <a:sym typeface="Sora Bold"/>
                </a:rPr>
                <a:t>Heft</a:t>
              </a:r>
            </a:p>
            <a:p>
              <a:pPr algn="ctr">
                <a:lnSpc>
                  <a:spcPts val="8749"/>
                </a:lnSpc>
              </a:pPr>
              <a:r>
                <a:rPr lang="en-US" sz="4374">
                  <a:solidFill>
                    <a:srgbClr val="F4F1EA"/>
                  </a:solidFill>
                  <a:latin typeface="Sora"/>
                  <a:ea typeface="Sora"/>
                  <a:cs typeface="Sora"/>
                  <a:sym typeface="Sora"/>
                </a:rPr>
                <a:t>TypeScript</a:t>
              </a:r>
            </a:p>
            <a:p>
              <a:pPr algn="ctr">
                <a:lnSpc>
                  <a:spcPts val="8749"/>
                </a:lnSpc>
              </a:pPr>
              <a:r>
                <a:rPr lang="en-US" sz="4374">
                  <a:solidFill>
                    <a:srgbClr val="F4F1EA"/>
                  </a:solidFill>
                  <a:latin typeface="Sora"/>
                  <a:ea typeface="Sora"/>
                  <a:cs typeface="Sora"/>
                  <a:sym typeface="Sora"/>
                </a:rPr>
                <a:t>ESLint</a:t>
              </a:r>
            </a:p>
            <a:p>
              <a:pPr algn="ctr">
                <a:lnSpc>
                  <a:spcPts val="8749"/>
                </a:lnSpc>
              </a:pPr>
              <a:r>
                <a:rPr lang="en-US" sz="4374">
                  <a:solidFill>
                    <a:srgbClr val="F4F1EA"/>
                  </a:solidFill>
                  <a:latin typeface="Sora"/>
                  <a:ea typeface="Sora"/>
                  <a:cs typeface="Sora"/>
                  <a:sym typeface="Sora"/>
                </a:rPr>
                <a:t>Sass</a:t>
              </a:r>
            </a:p>
            <a:p>
              <a:pPr algn="ctr">
                <a:lnSpc>
                  <a:spcPts val="8749"/>
                </a:lnSpc>
              </a:pPr>
              <a:r>
                <a:rPr lang="en-US" sz="4374">
                  <a:solidFill>
                    <a:srgbClr val="F4F1EA"/>
                  </a:solidFill>
                  <a:latin typeface="Sora"/>
                  <a:ea typeface="Sora"/>
                  <a:cs typeface="Sora"/>
                  <a:sym typeface="Sora"/>
                </a:rPr>
                <a:t>webpack</a:t>
              </a: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14632309" y="0"/>
              <a:ext cx="4539535" cy="4539535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6200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56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4921932" y="1675645"/>
              <a:ext cx="3960289" cy="1254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18"/>
                </a:lnSpc>
              </a:pPr>
              <a:r>
                <a:rPr lang="en-US" sz="6562" b="true">
                  <a:solidFill>
                    <a:srgbClr val="F4F1EA"/>
                  </a:solidFill>
                  <a:latin typeface="Sora Semi-Bold"/>
                  <a:ea typeface="Sora Semi-Bold"/>
                  <a:cs typeface="Sora Semi-Bold"/>
                  <a:sym typeface="Sora Semi-Bold"/>
                </a:rPr>
                <a:t>v1.22+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607344" y="19617670"/>
            <a:ext cx="25360313" cy="2274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90824" indent="-595412" lvl="1">
              <a:lnSpc>
                <a:spcPts val="9321"/>
              </a:lnSpc>
              <a:buFont typeface="Arial"/>
              <a:buChar char="•"/>
            </a:pPr>
            <a:r>
              <a:rPr lang="en-US" b="true" sz="551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Upgrading projects to v1.22 OR new projects WILL be impacted</a:t>
            </a:r>
          </a:p>
          <a:p>
            <a:pPr algn="l" marL="1190824" indent="-595412" lvl="1">
              <a:lnSpc>
                <a:spcPts val="9321"/>
              </a:lnSpc>
              <a:buFont typeface="Arial"/>
              <a:buChar char="•"/>
            </a:pPr>
            <a:r>
              <a:rPr lang="en-US" b="true" sz="551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If you have build customizations, you MUST migrate them</a:t>
            </a:r>
          </a:p>
        </p:txBody>
      </p: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250781"/>
            <a:ext cx="7950669" cy="16073438"/>
            <a:chOff x="0" y="0"/>
            <a:chExt cx="134016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016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40162">
                  <a:moveTo>
                    <a:pt x="0" y="0"/>
                  </a:moveTo>
                  <a:lnTo>
                    <a:pt x="1340162" y="0"/>
                  </a:lnTo>
                  <a:lnTo>
                    <a:pt x="13401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E1F4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40162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529172" y="6975209"/>
          <a:ext cx="19359075" cy="15031641"/>
        </p:xfrm>
        <a:graphic>
          <a:graphicData uri="http://schemas.openxmlformats.org/drawingml/2006/table">
            <a:tbl>
              <a:tblPr/>
              <a:tblGrid>
                <a:gridCol w="5062243"/>
                <a:gridCol w="4986540"/>
                <a:gridCol w="9310292"/>
              </a:tblGrid>
              <a:tr h="17631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999"/>
                        </a:lnSpc>
                        <a:defRPr/>
                      </a:pPr>
                      <a:r>
                        <a:rPr lang="en-US" sz="4999" b="true">
                          <a:solidFill>
                            <a:srgbClr val="FFFFFF"/>
                          </a:solidFill>
                          <a:latin typeface="Sora Bold"/>
                          <a:ea typeface="Sora Bold"/>
                          <a:cs typeface="Sora Bold"/>
                          <a:sym typeface="Sora Bold"/>
                        </a:rPr>
                        <a:t>Gulp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999"/>
                        </a:lnSpc>
                        <a:defRPr/>
                      </a:pPr>
                      <a:r>
                        <a:rPr lang="en-US" sz="4999" b="true">
                          <a:solidFill>
                            <a:srgbClr val="FFFFFF"/>
                          </a:solidFill>
                          <a:latin typeface="Sora Bold"/>
                          <a:ea typeface="Sora Bold"/>
                          <a:cs typeface="Sora Bold"/>
                          <a:sym typeface="Sora Bold"/>
                        </a:rPr>
                        <a:t>Heft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5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43"/>
                    </a:solidFill>
                  </a:tcPr>
                </a:tc>
              </a:tr>
              <a:tr h="15987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1"/>
                        </a:lnSpc>
                        <a:defRPr/>
                      </a:pPr>
                      <a:r>
                        <a:rPr lang="en-US" sz="3593" b="true">
                          <a:solidFill>
                            <a:srgbClr val="000000"/>
                          </a:solidFill>
                          <a:latin typeface="Sora Bold"/>
                          <a:ea typeface="Sora Bold"/>
                          <a:cs typeface="Sora Bold"/>
                          <a:sym typeface="Sora Bold"/>
                        </a:rPr>
                        <a:t>build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1"/>
                        </a:lnSpc>
                        <a:defRPr/>
                      </a:pPr>
                      <a:r>
                        <a:rPr lang="en-US" sz="3593" b="true">
                          <a:solidFill>
                            <a:srgbClr val="000000"/>
                          </a:solidFill>
                          <a:latin typeface="Sora Bold"/>
                          <a:ea typeface="Sora Bold"/>
                          <a:cs typeface="Sora Bold"/>
                          <a:sym typeface="Sora Bold"/>
                        </a:rPr>
                        <a:t>build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5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4B4"/>
                    </a:solidFill>
                  </a:tcPr>
                </a:tc>
              </a:tr>
              <a:tr h="20769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1"/>
                        </a:lnSpc>
                        <a:defRPr/>
                      </a:pPr>
                      <a:r>
                        <a:rPr lang="en-US" sz="3593" b="true">
                          <a:solidFill>
                            <a:srgbClr val="000000"/>
                          </a:solidFill>
                          <a:latin typeface="Sora Bold"/>
                          <a:ea typeface="Sora Bold"/>
                          <a:cs typeface="Sora Bold"/>
                          <a:sym typeface="Sora Bold"/>
                        </a:rPr>
                        <a:t>bundle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94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1"/>
                        </a:lnSpc>
                        <a:defRPr/>
                      </a:pPr>
                      <a:r>
                        <a:rPr lang="en-US" sz="3593" b="true">
                          <a:solidFill>
                            <a:srgbClr val="000000"/>
                          </a:solidFill>
                          <a:latin typeface="Sora Bold"/>
                          <a:ea typeface="Sora Bold"/>
                          <a:cs typeface="Sora Bold"/>
                          <a:sym typeface="Sora Bold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94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1"/>
                        </a:lnSpc>
                        <a:defRPr/>
                      </a:pPr>
                      <a:r>
                        <a:rPr lang="en-US" sz="3593">
                          <a:solidFill>
                            <a:srgbClr val="000000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webpack bundling is now included in the of build phase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4B4"/>
                    </a:solidFill>
                  </a:tcPr>
                </a:tc>
              </a:tr>
              <a:tr h="15987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1"/>
                        </a:lnSpc>
                        <a:defRPr/>
                      </a:pPr>
                      <a:r>
                        <a:rPr lang="en-US" sz="3593" b="true">
                          <a:solidFill>
                            <a:srgbClr val="000000"/>
                          </a:solidFill>
                          <a:latin typeface="Sora Bold"/>
                          <a:ea typeface="Sora Bold"/>
                          <a:cs typeface="Sora Bold"/>
                          <a:sym typeface="Sora Bold"/>
                        </a:rPr>
                        <a:t>clean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1"/>
                        </a:lnSpc>
                        <a:defRPr/>
                      </a:pPr>
                      <a:r>
                        <a:rPr lang="en-US" sz="3593" b="true">
                          <a:solidFill>
                            <a:srgbClr val="000000"/>
                          </a:solidFill>
                          <a:latin typeface="Sora Bold"/>
                          <a:ea typeface="Sora Bold"/>
                          <a:cs typeface="Sora Bold"/>
                          <a:sym typeface="Sora Bold"/>
                        </a:rPr>
                        <a:t>clean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5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4B4"/>
                    </a:solidFill>
                  </a:tcPr>
                </a:tc>
              </a:tr>
              <a:tr h="15987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1"/>
                        </a:lnSpc>
                        <a:defRPr/>
                      </a:pPr>
                      <a:r>
                        <a:rPr lang="en-US" sz="3593" b="true">
                          <a:solidFill>
                            <a:srgbClr val="000000"/>
                          </a:solidFill>
                          <a:latin typeface="Sora Bold"/>
                          <a:ea typeface="Sora Bold"/>
                          <a:cs typeface="Sora Bold"/>
                          <a:sym typeface="Sora Bold"/>
                        </a:rPr>
                        <a:t>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1"/>
                        </a:lnSpc>
                        <a:defRPr/>
                      </a:pPr>
                      <a:r>
                        <a:rPr lang="en-US" sz="3593" b="true">
                          <a:solidFill>
                            <a:srgbClr val="000000"/>
                          </a:solidFill>
                          <a:latin typeface="Sora Bold"/>
                          <a:ea typeface="Sora Bold"/>
                          <a:cs typeface="Sora Bold"/>
                          <a:sym typeface="Sora Bold"/>
                        </a:rPr>
                        <a:t>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5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4B4"/>
                    </a:solidFill>
                  </a:tcPr>
                </a:tc>
              </a:tr>
              <a:tr h="15987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1"/>
                        </a:lnSpc>
                        <a:defRPr/>
                      </a:pPr>
                      <a:r>
                        <a:rPr lang="en-US" sz="3593" b="true">
                          <a:solidFill>
                            <a:srgbClr val="000000"/>
                          </a:solidFill>
                          <a:latin typeface="Sora Bold"/>
                          <a:ea typeface="Sora Bold"/>
                          <a:cs typeface="Sora Bold"/>
                          <a:sym typeface="Sora Bold"/>
                        </a:rPr>
                        <a:t>serve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94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1"/>
                        </a:lnSpc>
                        <a:defRPr/>
                      </a:pPr>
                      <a:r>
                        <a:rPr lang="en-US" sz="3593" b="true">
                          <a:solidFill>
                            <a:srgbClr val="000000"/>
                          </a:solidFill>
                          <a:latin typeface="Sora Bold"/>
                          <a:ea typeface="Sora Bold"/>
                          <a:cs typeface="Sora Bold"/>
                          <a:sym typeface="Sora Bold"/>
                        </a:rPr>
                        <a:t>start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94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5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4B4"/>
                    </a:solidFill>
                  </a:tcPr>
                </a:tc>
              </a:tr>
              <a:tr h="15987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1"/>
                        </a:lnSpc>
                        <a:defRPr/>
                      </a:pPr>
                      <a:r>
                        <a:rPr lang="en-US" sz="3593" b="true">
                          <a:solidFill>
                            <a:srgbClr val="000000"/>
                          </a:solidFill>
                          <a:latin typeface="Sora Bold"/>
                          <a:ea typeface="Sora Bold"/>
                          <a:cs typeface="Sora Bold"/>
                          <a:sym typeface="Sora Bold"/>
                        </a:rPr>
                        <a:t>package-solution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94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1"/>
                        </a:lnSpc>
                        <a:defRPr/>
                      </a:pPr>
                      <a:r>
                        <a:rPr lang="en-US" sz="3593" b="true">
                          <a:solidFill>
                            <a:srgbClr val="000000"/>
                          </a:solidFill>
                          <a:latin typeface="Sora Bold"/>
                          <a:ea typeface="Sora Bold"/>
                          <a:cs typeface="Sora Bold"/>
                          <a:sym typeface="Sora Bold"/>
                        </a:rPr>
                        <a:t>package-solution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94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1"/>
                        </a:lnSpc>
                        <a:defRPr/>
                      </a:pPr>
                      <a:r>
                        <a:rPr lang="en-US" sz="3593">
                          <a:solidFill>
                            <a:srgbClr val="000000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▶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4B4"/>
                    </a:solidFill>
                  </a:tcPr>
                </a:tc>
              </a:tr>
              <a:tr h="15987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1"/>
                        </a:lnSpc>
                        <a:defRPr/>
                      </a:pPr>
                      <a:r>
                        <a:rPr lang="en-US" sz="3593" b="true">
                          <a:solidFill>
                            <a:srgbClr val="000000"/>
                          </a:solidFill>
                          <a:latin typeface="Sora Bold"/>
                          <a:ea typeface="Sora Bold"/>
                          <a:cs typeface="Sora Bold"/>
                          <a:sym typeface="Sora Bold"/>
                        </a:rPr>
                        <a:t>trust-dev-cert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1"/>
                        </a:lnSpc>
                        <a:defRPr/>
                      </a:pPr>
                      <a:r>
                        <a:rPr lang="en-US" sz="3593" b="true">
                          <a:solidFill>
                            <a:srgbClr val="000000"/>
                          </a:solidFill>
                          <a:latin typeface="Sora Bold"/>
                          <a:ea typeface="Sora Bold"/>
                          <a:cs typeface="Sora Bold"/>
                          <a:sym typeface="Sora Bold"/>
                        </a:rPr>
                        <a:t>trust-dev-cert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5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4B4"/>
                    </a:solidFill>
                  </a:tcPr>
                </a:tc>
              </a:tr>
              <a:tr h="15987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1"/>
                        </a:lnSpc>
                        <a:defRPr/>
                      </a:pPr>
                      <a:r>
                        <a:rPr lang="en-US" sz="3593" b="true">
                          <a:solidFill>
                            <a:srgbClr val="000000"/>
                          </a:solidFill>
                          <a:latin typeface="Sora Bold"/>
                          <a:ea typeface="Sora Bold"/>
                          <a:cs typeface="Sora Bold"/>
                          <a:sym typeface="Sora Bold"/>
                        </a:rPr>
                        <a:t>untrust-dev-cert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1"/>
                        </a:lnSpc>
                        <a:defRPr/>
                      </a:pPr>
                      <a:r>
                        <a:rPr lang="en-US" sz="3593" b="true">
                          <a:solidFill>
                            <a:srgbClr val="000000"/>
                          </a:solidFill>
                          <a:latin typeface="Sora Bold"/>
                          <a:ea typeface="Sora Bold"/>
                          <a:cs typeface="Sora Bold"/>
                          <a:sym typeface="Sora Bold"/>
                        </a:rPr>
                        <a:t>untrust-dev-cert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5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1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4B4"/>
                    </a:solidFill>
                  </a:tcPr>
                </a:tc>
              </a:tr>
            </a:tbl>
          </a:graphicData>
        </a:graphic>
      </p:graphicFrame>
      <p:sp>
        <p:nvSpPr>
          <p:cNvPr name="Freeform 6" id="6"/>
          <p:cNvSpPr/>
          <p:nvPr/>
        </p:nvSpPr>
        <p:spPr>
          <a:xfrm flipH="false" flipV="false" rot="0">
            <a:off x="624937" y="14016081"/>
            <a:ext cx="6700794" cy="6700794"/>
          </a:xfrm>
          <a:custGeom>
            <a:avLst/>
            <a:gdLst/>
            <a:ahLst/>
            <a:cxnLst/>
            <a:rect r="r" b="b" t="t" l="l"/>
            <a:pathLst>
              <a:path h="6700794" w="6700794">
                <a:moveTo>
                  <a:pt x="0" y="0"/>
                </a:moveTo>
                <a:lnTo>
                  <a:pt x="6700794" y="0"/>
                </a:lnTo>
                <a:lnTo>
                  <a:pt x="6700794" y="6700794"/>
                </a:lnTo>
                <a:lnTo>
                  <a:pt x="0" y="670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3761" y="7686675"/>
            <a:ext cx="6943146" cy="304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50"/>
              </a:lnSpc>
            </a:pPr>
            <a:r>
              <a:rPr lang="en-US" sz="8750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Gulp ▶ Heft</a:t>
            </a:r>
          </a:p>
          <a:p>
            <a:pPr algn="ctr">
              <a:lnSpc>
                <a:spcPts val="12250"/>
              </a:lnSpc>
            </a:pPr>
            <a:r>
              <a:rPr lang="en-US" b="true" sz="8750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commands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6113" y="12940375"/>
            <a:ext cx="6458443" cy="93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9"/>
              </a:lnSpc>
            </a:pPr>
            <a:r>
              <a:rPr lang="en-US" b="true" sz="5781" u="sng">
                <a:solidFill>
                  <a:srgbClr val="0E1F43"/>
                </a:solidFill>
                <a:latin typeface="Consolas Bold"/>
                <a:ea typeface="Consolas Bold"/>
                <a:cs typeface="Consolas Bold"/>
                <a:sym typeface="Consolas Bold"/>
                <a:hlinkClick r:id="rId3" tooltip="https://vtns.io/20260108"/>
              </a:rPr>
              <a:t>vtns.io/20260108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830070" y="17550721"/>
            <a:ext cx="1701989" cy="75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7"/>
              </a:lnSpc>
              <a:spcBef>
                <a:spcPct val="0"/>
              </a:spcBef>
            </a:pPr>
            <a:r>
              <a:rPr lang="en-US" sz="4062">
                <a:solidFill>
                  <a:srgbClr val="F4F1EA"/>
                </a:solidFill>
                <a:latin typeface="Consolas"/>
                <a:ea typeface="Consolas"/>
                <a:cs typeface="Consolas"/>
                <a:sym typeface="Consolas"/>
              </a:rPr>
              <a:t>--ship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819541" y="17550721"/>
            <a:ext cx="3403862" cy="75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7"/>
              </a:lnSpc>
              <a:spcBef>
                <a:spcPct val="0"/>
              </a:spcBef>
            </a:pPr>
            <a:r>
              <a:rPr lang="en-US" sz="4062">
                <a:solidFill>
                  <a:srgbClr val="F4F1EA"/>
                </a:solidFill>
                <a:latin typeface="Consolas"/>
                <a:ea typeface="Consolas"/>
                <a:cs typeface="Consolas"/>
                <a:sym typeface="Consolas"/>
              </a:rPr>
              <a:t>--production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03822" y="2446959"/>
            <a:ext cx="10822332" cy="10822332"/>
          </a:xfrm>
          <a:custGeom>
            <a:avLst/>
            <a:gdLst/>
            <a:ahLst/>
            <a:cxnLst/>
            <a:rect r="r" b="b" t="t" l="l"/>
            <a:pathLst>
              <a:path h="10822332" w="10822332">
                <a:moveTo>
                  <a:pt x="0" y="0"/>
                </a:moveTo>
                <a:lnTo>
                  <a:pt x="10822332" y="0"/>
                </a:lnTo>
                <a:lnTo>
                  <a:pt x="10822332" y="10822332"/>
                </a:lnTo>
                <a:lnTo>
                  <a:pt x="0" y="108223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23845" y="5680538"/>
            <a:ext cx="13653503" cy="17909762"/>
          </a:xfrm>
          <a:custGeom>
            <a:avLst/>
            <a:gdLst/>
            <a:ahLst/>
            <a:cxnLst/>
            <a:rect r="r" b="b" t="t" l="l"/>
            <a:pathLst>
              <a:path h="17909762" w="13653503">
                <a:moveTo>
                  <a:pt x="0" y="0"/>
                </a:moveTo>
                <a:lnTo>
                  <a:pt x="13653503" y="0"/>
                </a:lnTo>
                <a:lnTo>
                  <a:pt x="13653503" y="17909761"/>
                </a:lnTo>
                <a:lnTo>
                  <a:pt x="0" y="179097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4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38717" y="16831911"/>
            <a:ext cx="28802601" cy="932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73"/>
              </a:lnSpc>
            </a:pPr>
            <a:r>
              <a:rPr lang="en-US" b="true" sz="65248">
                <a:solidFill>
                  <a:srgbClr val="F4F1EA">
                    <a:alpha val="4706"/>
                  </a:srgbClr>
                </a:solidFill>
                <a:latin typeface="Sora Bold"/>
                <a:ea typeface="Sora Bold"/>
                <a:cs typeface="Sora Bold"/>
                <a:sym typeface="Sora Bold"/>
              </a:rPr>
              <a:t>DEMO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4690" y="15061539"/>
            <a:ext cx="23207274" cy="389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4"/>
              </a:lnSpc>
            </a:pPr>
            <a:r>
              <a:rPr lang="en-US" sz="13749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Heft &amp; the </a:t>
            </a:r>
          </a:p>
          <a:p>
            <a:pPr algn="l">
              <a:lnSpc>
                <a:spcPts val="15124"/>
              </a:lnSpc>
            </a:pPr>
            <a:r>
              <a:rPr lang="en-US" sz="13749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SharePoint Framework</a:t>
            </a:r>
          </a:p>
        </p:txBody>
      </p:sp>
    </p:spTree>
  </p:cSld>
  <p:clrMapOvr>
    <a:masterClrMapping/>
  </p:clrMapOvr>
  <p:transition spd="slow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6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1515" y="11444189"/>
            <a:ext cx="22671969" cy="1970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4"/>
              </a:lnSpc>
            </a:pPr>
            <a:r>
              <a:rPr lang="en-US" sz="13749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How Heft Works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3803822" y="2446959"/>
            <a:ext cx="10822332" cy="10822332"/>
          </a:xfrm>
          <a:custGeom>
            <a:avLst/>
            <a:gdLst/>
            <a:ahLst/>
            <a:cxnLst/>
            <a:rect r="r" b="b" t="t" l="l"/>
            <a:pathLst>
              <a:path h="10822332" w="10822332">
                <a:moveTo>
                  <a:pt x="0" y="0"/>
                </a:moveTo>
                <a:lnTo>
                  <a:pt x="10822332" y="0"/>
                </a:lnTo>
                <a:lnTo>
                  <a:pt x="10822332" y="10822332"/>
                </a:lnTo>
                <a:lnTo>
                  <a:pt x="0" y="108223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929264" y="17254636"/>
            <a:ext cx="7235422" cy="7235422"/>
          </a:xfrm>
          <a:custGeom>
            <a:avLst/>
            <a:gdLst/>
            <a:ahLst/>
            <a:cxnLst/>
            <a:rect r="r" b="b" t="t" l="l"/>
            <a:pathLst>
              <a:path h="7235422" w="7235422">
                <a:moveTo>
                  <a:pt x="0" y="0"/>
                </a:moveTo>
                <a:lnTo>
                  <a:pt x="7235422" y="0"/>
                </a:lnTo>
                <a:lnTo>
                  <a:pt x="7235422" y="7235423"/>
                </a:lnTo>
                <a:lnTo>
                  <a:pt x="0" y="7235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250781"/>
            <a:ext cx="7950669" cy="16073438"/>
            <a:chOff x="0" y="0"/>
            <a:chExt cx="134016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016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40162">
                  <a:moveTo>
                    <a:pt x="0" y="0"/>
                  </a:moveTo>
                  <a:lnTo>
                    <a:pt x="1340162" y="0"/>
                  </a:lnTo>
                  <a:lnTo>
                    <a:pt x="13401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E1F4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40162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03761" y="7686675"/>
            <a:ext cx="6943146" cy="293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12"/>
              </a:lnSpc>
            </a:pPr>
            <a:r>
              <a:rPr lang="en-US" b="true" sz="8437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Heft architecture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457136" y="7626562"/>
            <a:ext cx="13744554" cy="11415431"/>
            <a:chOff x="0" y="0"/>
            <a:chExt cx="18326072" cy="1522057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668672" y="631688"/>
              <a:ext cx="7915725" cy="11292862"/>
              <a:chOff x="0" y="0"/>
              <a:chExt cx="758024" cy="108142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58025" cy="1081425"/>
              </a:xfrm>
              <a:custGeom>
                <a:avLst/>
                <a:gdLst/>
                <a:ahLst/>
                <a:cxnLst/>
                <a:rect r="r" b="b" t="t" l="l"/>
                <a:pathLst>
                  <a:path h="1081425" w="758025">
                    <a:moveTo>
                      <a:pt x="63045" y="0"/>
                    </a:moveTo>
                    <a:lnTo>
                      <a:pt x="694980" y="0"/>
                    </a:lnTo>
                    <a:cubicBezTo>
                      <a:pt x="729798" y="0"/>
                      <a:pt x="758025" y="28226"/>
                      <a:pt x="758025" y="63045"/>
                    </a:cubicBezTo>
                    <a:lnTo>
                      <a:pt x="758025" y="1018380"/>
                    </a:lnTo>
                    <a:cubicBezTo>
                      <a:pt x="758025" y="1053199"/>
                      <a:pt x="729798" y="1081425"/>
                      <a:pt x="694980" y="1081425"/>
                    </a:cubicBezTo>
                    <a:lnTo>
                      <a:pt x="63045" y="1081425"/>
                    </a:lnTo>
                    <a:cubicBezTo>
                      <a:pt x="28226" y="1081425"/>
                      <a:pt x="0" y="1053199"/>
                      <a:pt x="0" y="1018380"/>
                    </a:cubicBezTo>
                    <a:lnTo>
                      <a:pt x="0" y="63045"/>
                    </a:lnTo>
                    <a:cubicBezTo>
                      <a:pt x="0" y="28226"/>
                      <a:pt x="28226" y="0"/>
                      <a:pt x="63045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59531" cap="rnd">
                <a:solidFill>
                  <a:srgbClr val="01203B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114300"/>
                <a:ext cx="758024" cy="11957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7721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240669" y="1389627"/>
              <a:ext cx="6771731" cy="2541147"/>
              <a:chOff x="0" y="0"/>
              <a:chExt cx="648473" cy="24334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48473" cy="243345"/>
              </a:xfrm>
              <a:custGeom>
                <a:avLst/>
                <a:gdLst/>
                <a:ahLst/>
                <a:cxnLst/>
                <a:rect r="r" b="b" t="t" l="l"/>
                <a:pathLst>
                  <a:path h="243345" w="648473">
                    <a:moveTo>
                      <a:pt x="73696" y="0"/>
                    </a:moveTo>
                    <a:lnTo>
                      <a:pt x="574778" y="0"/>
                    </a:lnTo>
                    <a:cubicBezTo>
                      <a:pt x="594323" y="0"/>
                      <a:pt x="613068" y="7764"/>
                      <a:pt x="626889" y="21585"/>
                    </a:cubicBezTo>
                    <a:cubicBezTo>
                      <a:pt x="640709" y="35406"/>
                      <a:pt x="648473" y="54150"/>
                      <a:pt x="648473" y="73696"/>
                    </a:cubicBezTo>
                    <a:lnTo>
                      <a:pt x="648473" y="169649"/>
                    </a:lnTo>
                    <a:cubicBezTo>
                      <a:pt x="648473" y="189195"/>
                      <a:pt x="640709" y="207939"/>
                      <a:pt x="626889" y="221760"/>
                    </a:cubicBezTo>
                    <a:cubicBezTo>
                      <a:pt x="613068" y="235581"/>
                      <a:pt x="594323" y="243345"/>
                      <a:pt x="574778" y="243345"/>
                    </a:cubicBezTo>
                    <a:lnTo>
                      <a:pt x="73696" y="243345"/>
                    </a:lnTo>
                    <a:cubicBezTo>
                      <a:pt x="54150" y="243345"/>
                      <a:pt x="35406" y="235581"/>
                      <a:pt x="21585" y="221760"/>
                    </a:cubicBezTo>
                    <a:cubicBezTo>
                      <a:pt x="7764" y="207939"/>
                      <a:pt x="0" y="189195"/>
                      <a:pt x="0" y="169649"/>
                    </a:cubicBezTo>
                    <a:lnTo>
                      <a:pt x="0" y="73696"/>
                    </a:lnTo>
                    <a:cubicBezTo>
                      <a:pt x="0" y="54150"/>
                      <a:pt x="7764" y="35406"/>
                      <a:pt x="21585" y="21585"/>
                    </a:cubicBezTo>
                    <a:cubicBezTo>
                      <a:pt x="35406" y="7764"/>
                      <a:pt x="54150" y="0"/>
                      <a:pt x="73696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 w="59531" cap="rnd">
                <a:solidFill>
                  <a:srgbClr val="01203B"/>
                </a:solidFill>
                <a:prstDash val="dash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14300"/>
                <a:ext cx="648473" cy="3576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7721"/>
                  </a:lnSpc>
                </a:pPr>
                <a:r>
                  <a:rPr lang="en-US" b="true" sz="5515">
                    <a:solidFill>
                      <a:srgbClr val="0E1F43"/>
                    </a:solidFill>
                    <a:latin typeface="Sora Semi-Bold"/>
                    <a:ea typeface="Sora Semi-Bold"/>
                    <a:cs typeface="Sora Semi-Bold"/>
                    <a:sym typeface="Sora Semi-Bold"/>
                  </a:rPr>
                  <a:t>Task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240669" y="4168616"/>
              <a:ext cx="6771731" cy="2541147"/>
              <a:chOff x="0" y="0"/>
              <a:chExt cx="648473" cy="24334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48473" cy="243345"/>
              </a:xfrm>
              <a:custGeom>
                <a:avLst/>
                <a:gdLst/>
                <a:ahLst/>
                <a:cxnLst/>
                <a:rect r="r" b="b" t="t" l="l"/>
                <a:pathLst>
                  <a:path h="243345" w="648473">
                    <a:moveTo>
                      <a:pt x="73696" y="0"/>
                    </a:moveTo>
                    <a:lnTo>
                      <a:pt x="574778" y="0"/>
                    </a:lnTo>
                    <a:cubicBezTo>
                      <a:pt x="594323" y="0"/>
                      <a:pt x="613068" y="7764"/>
                      <a:pt x="626889" y="21585"/>
                    </a:cubicBezTo>
                    <a:cubicBezTo>
                      <a:pt x="640709" y="35406"/>
                      <a:pt x="648473" y="54150"/>
                      <a:pt x="648473" y="73696"/>
                    </a:cubicBezTo>
                    <a:lnTo>
                      <a:pt x="648473" y="169649"/>
                    </a:lnTo>
                    <a:cubicBezTo>
                      <a:pt x="648473" y="189195"/>
                      <a:pt x="640709" y="207939"/>
                      <a:pt x="626889" y="221760"/>
                    </a:cubicBezTo>
                    <a:cubicBezTo>
                      <a:pt x="613068" y="235581"/>
                      <a:pt x="594323" y="243345"/>
                      <a:pt x="574778" y="243345"/>
                    </a:cubicBezTo>
                    <a:lnTo>
                      <a:pt x="73696" y="243345"/>
                    </a:lnTo>
                    <a:cubicBezTo>
                      <a:pt x="54150" y="243345"/>
                      <a:pt x="35406" y="235581"/>
                      <a:pt x="21585" y="221760"/>
                    </a:cubicBezTo>
                    <a:cubicBezTo>
                      <a:pt x="7764" y="207939"/>
                      <a:pt x="0" y="189195"/>
                      <a:pt x="0" y="169649"/>
                    </a:cubicBezTo>
                    <a:lnTo>
                      <a:pt x="0" y="73696"/>
                    </a:lnTo>
                    <a:cubicBezTo>
                      <a:pt x="0" y="54150"/>
                      <a:pt x="7764" y="35406"/>
                      <a:pt x="21585" y="21585"/>
                    </a:cubicBezTo>
                    <a:cubicBezTo>
                      <a:pt x="35406" y="7764"/>
                      <a:pt x="54150" y="0"/>
                      <a:pt x="73696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 w="59531" cap="rnd">
                <a:solidFill>
                  <a:srgbClr val="01203B"/>
                </a:solidFill>
                <a:prstDash val="dash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114300"/>
                <a:ext cx="648473" cy="3576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7721"/>
                  </a:lnSpc>
                </a:pPr>
                <a:r>
                  <a:rPr lang="en-US" b="true" sz="5515">
                    <a:solidFill>
                      <a:srgbClr val="0E1F43"/>
                    </a:solidFill>
                    <a:latin typeface="Sora Semi-Bold"/>
                    <a:ea typeface="Sora Semi-Bold"/>
                    <a:cs typeface="Sora Semi-Bold"/>
                    <a:sym typeface="Sora Semi-Bold"/>
                  </a:rPr>
                  <a:t>Task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240669" y="6945534"/>
              <a:ext cx="6771731" cy="2541147"/>
              <a:chOff x="0" y="0"/>
              <a:chExt cx="648473" cy="24334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48473" cy="243345"/>
              </a:xfrm>
              <a:custGeom>
                <a:avLst/>
                <a:gdLst/>
                <a:ahLst/>
                <a:cxnLst/>
                <a:rect r="r" b="b" t="t" l="l"/>
                <a:pathLst>
                  <a:path h="243345" w="648473">
                    <a:moveTo>
                      <a:pt x="73696" y="0"/>
                    </a:moveTo>
                    <a:lnTo>
                      <a:pt x="574778" y="0"/>
                    </a:lnTo>
                    <a:cubicBezTo>
                      <a:pt x="594323" y="0"/>
                      <a:pt x="613068" y="7764"/>
                      <a:pt x="626889" y="21585"/>
                    </a:cubicBezTo>
                    <a:cubicBezTo>
                      <a:pt x="640709" y="35406"/>
                      <a:pt x="648473" y="54150"/>
                      <a:pt x="648473" y="73696"/>
                    </a:cubicBezTo>
                    <a:lnTo>
                      <a:pt x="648473" y="169649"/>
                    </a:lnTo>
                    <a:cubicBezTo>
                      <a:pt x="648473" y="189195"/>
                      <a:pt x="640709" y="207939"/>
                      <a:pt x="626889" y="221760"/>
                    </a:cubicBezTo>
                    <a:cubicBezTo>
                      <a:pt x="613068" y="235581"/>
                      <a:pt x="594323" y="243345"/>
                      <a:pt x="574778" y="243345"/>
                    </a:cubicBezTo>
                    <a:lnTo>
                      <a:pt x="73696" y="243345"/>
                    </a:lnTo>
                    <a:cubicBezTo>
                      <a:pt x="54150" y="243345"/>
                      <a:pt x="35406" y="235581"/>
                      <a:pt x="21585" y="221760"/>
                    </a:cubicBezTo>
                    <a:cubicBezTo>
                      <a:pt x="7764" y="207939"/>
                      <a:pt x="0" y="189195"/>
                      <a:pt x="0" y="169649"/>
                    </a:cubicBezTo>
                    <a:lnTo>
                      <a:pt x="0" y="73696"/>
                    </a:lnTo>
                    <a:cubicBezTo>
                      <a:pt x="0" y="54150"/>
                      <a:pt x="7764" y="35406"/>
                      <a:pt x="21585" y="21585"/>
                    </a:cubicBezTo>
                    <a:cubicBezTo>
                      <a:pt x="35406" y="7764"/>
                      <a:pt x="54150" y="0"/>
                      <a:pt x="73696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 w="59531" cap="rnd">
                <a:solidFill>
                  <a:srgbClr val="01203B"/>
                </a:solidFill>
                <a:prstDash val="dash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14300"/>
                <a:ext cx="648473" cy="3576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7721"/>
                  </a:lnSpc>
                </a:pPr>
                <a:r>
                  <a:rPr lang="en-US" b="true" sz="5515">
                    <a:solidFill>
                      <a:srgbClr val="0E1F43"/>
                    </a:solidFill>
                    <a:latin typeface="Sora Semi-Bold"/>
                    <a:ea typeface="Sora Semi-Bold"/>
                    <a:cs typeface="Sora Semi-Bold"/>
                    <a:sym typeface="Sora Semi-Bold"/>
                  </a:rPr>
                  <a:t>Task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738225" y="9830826"/>
              <a:ext cx="3776619" cy="15895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94"/>
                </a:lnSpc>
                <a:spcBef>
                  <a:spcPct val="0"/>
                </a:spcBef>
              </a:pPr>
              <a:r>
                <a:rPr lang="en-US" b="true" sz="7281">
                  <a:solidFill>
                    <a:srgbClr val="000000"/>
                  </a:solidFill>
                  <a:latin typeface="Sora Semi-Bold"/>
                  <a:ea typeface="Sora Semi-Bold"/>
                  <a:cs typeface="Sora Semi-Bold"/>
                  <a:sym typeface="Sora Semi-Bold"/>
                </a:rPr>
                <a:t>Phase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0" y="0"/>
              <a:ext cx="18326072" cy="15220575"/>
              <a:chOff x="0" y="0"/>
              <a:chExt cx="1754939" cy="145755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754939" cy="1457551"/>
              </a:xfrm>
              <a:custGeom>
                <a:avLst/>
                <a:gdLst/>
                <a:ahLst/>
                <a:cxnLst/>
                <a:rect r="r" b="b" t="t" l="l"/>
                <a:pathLst>
                  <a:path h="1457551" w="1754939">
                    <a:moveTo>
                      <a:pt x="27232" y="0"/>
                    </a:moveTo>
                    <a:lnTo>
                      <a:pt x="1727707" y="0"/>
                    </a:lnTo>
                    <a:cubicBezTo>
                      <a:pt x="1734929" y="0"/>
                      <a:pt x="1741856" y="2869"/>
                      <a:pt x="1746963" y="7976"/>
                    </a:cubicBezTo>
                    <a:cubicBezTo>
                      <a:pt x="1752070" y="13083"/>
                      <a:pt x="1754939" y="20009"/>
                      <a:pt x="1754939" y="27232"/>
                    </a:cubicBezTo>
                    <a:lnTo>
                      <a:pt x="1754939" y="1430319"/>
                    </a:lnTo>
                    <a:cubicBezTo>
                      <a:pt x="1754939" y="1445359"/>
                      <a:pt x="1742747" y="1457551"/>
                      <a:pt x="1727707" y="1457551"/>
                    </a:cubicBezTo>
                    <a:lnTo>
                      <a:pt x="27232" y="1457551"/>
                    </a:lnTo>
                    <a:cubicBezTo>
                      <a:pt x="12192" y="1457551"/>
                      <a:pt x="0" y="1445359"/>
                      <a:pt x="0" y="1430319"/>
                    </a:cubicBezTo>
                    <a:lnTo>
                      <a:pt x="0" y="27232"/>
                    </a:lnTo>
                    <a:cubicBezTo>
                      <a:pt x="0" y="12192"/>
                      <a:pt x="12192" y="0"/>
                      <a:pt x="27232" y="0"/>
                    </a:cubicBezTo>
                    <a:close/>
                  </a:path>
                </a:pathLst>
              </a:custGeom>
              <a:ln w="59531" cap="rnd">
                <a:solidFill>
                  <a:srgbClr val="01203B"/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114300"/>
                <a:ext cx="1754939" cy="1571851"/>
              </a:xfrm>
              <a:prstGeom prst="rect">
                <a:avLst/>
              </a:prstGeom>
            </p:spPr>
            <p:txBody>
              <a:bodyPr anchor="ctr" rtlCol="false" tIns="38481" lIns="38481" bIns="38481" rIns="38481"/>
              <a:lstStyle/>
              <a:p>
                <a:pPr algn="ctr">
                  <a:lnSpc>
                    <a:spcPts val="7721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6099642" y="12636964"/>
              <a:ext cx="5631057" cy="15419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24"/>
                </a:lnSpc>
                <a:spcBef>
                  <a:spcPct val="0"/>
                </a:spcBef>
              </a:pPr>
              <a:r>
                <a:rPr lang="en-US" b="true" sz="4660">
                  <a:solidFill>
                    <a:srgbClr val="000000"/>
                  </a:solidFill>
                  <a:latin typeface="Sora Semi-Bold"/>
                  <a:ea typeface="Sora Semi-Bold"/>
                  <a:cs typeface="Sora Semi-Bold"/>
                  <a:sym typeface="Sora Semi-Bold"/>
                </a:rPr>
                <a:t>heft.json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9579871" y="631688"/>
              <a:ext cx="7915725" cy="11292862"/>
              <a:chOff x="0" y="0"/>
              <a:chExt cx="758024" cy="108142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758025" cy="1081425"/>
              </a:xfrm>
              <a:custGeom>
                <a:avLst/>
                <a:gdLst/>
                <a:ahLst/>
                <a:cxnLst/>
                <a:rect r="r" b="b" t="t" l="l"/>
                <a:pathLst>
                  <a:path h="1081425" w="758025">
                    <a:moveTo>
                      <a:pt x="63045" y="0"/>
                    </a:moveTo>
                    <a:lnTo>
                      <a:pt x="694980" y="0"/>
                    </a:lnTo>
                    <a:cubicBezTo>
                      <a:pt x="729798" y="0"/>
                      <a:pt x="758025" y="28226"/>
                      <a:pt x="758025" y="63045"/>
                    </a:cubicBezTo>
                    <a:lnTo>
                      <a:pt x="758025" y="1018380"/>
                    </a:lnTo>
                    <a:cubicBezTo>
                      <a:pt x="758025" y="1053199"/>
                      <a:pt x="729798" y="1081425"/>
                      <a:pt x="694980" y="1081425"/>
                    </a:cubicBezTo>
                    <a:lnTo>
                      <a:pt x="63045" y="1081425"/>
                    </a:lnTo>
                    <a:cubicBezTo>
                      <a:pt x="28226" y="1081425"/>
                      <a:pt x="0" y="1053199"/>
                      <a:pt x="0" y="1018380"/>
                    </a:cubicBezTo>
                    <a:lnTo>
                      <a:pt x="0" y="63045"/>
                    </a:lnTo>
                    <a:cubicBezTo>
                      <a:pt x="0" y="28226"/>
                      <a:pt x="28226" y="0"/>
                      <a:pt x="63045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59531" cap="rnd">
                <a:solidFill>
                  <a:srgbClr val="01203B"/>
                </a:solidFill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14300"/>
                <a:ext cx="758024" cy="11957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7721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0151868" y="1389627"/>
              <a:ext cx="6771731" cy="2541147"/>
              <a:chOff x="0" y="0"/>
              <a:chExt cx="648473" cy="24334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48473" cy="243345"/>
              </a:xfrm>
              <a:custGeom>
                <a:avLst/>
                <a:gdLst/>
                <a:ahLst/>
                <a:cxnLst/>
                <a:rect r="r" b="b" t="t" l="l"/>
                <a:pathLst>
                  <a:path h="243345" w="648473">
                    <a:moveTo>
                      <a:pt x="73696" y="0"/>
                    </a:moveTo>
                    <a:lnTo>
                      <a:pt x="574778" y="0"/>
                    </a:lnTo>
                    <a:cubicBezTo>
                      <a:pt x="594323" y="0"/>
                      <a:pt x="613068" y="7764"/>
                      <a:pt x="626889" y="21585"/>
                    </a:cubicBezTo>
                    <a:cubicBezTo>
                      <a:pt x="640709" y="35406"/>
                      <a:pt x="648473" y="54150"/>
                      <a:pt x="648473" y="73696"/>
                    </a:cubicBezTo>
                    <a:lnTo>
                      <a:pt x="648473" y="169649"/>
                    </a:lnTo>
                    <a:cubicBezTo>
                      <a:pt x="648473" y="189195"/>
                      <a:pt x="640709" y="207939"/>
                      <a:pt x="626889" y="221760"/>
                    </a:cubicBezTo>
                    <a:cubicBezTo>
                      <a:pt x="613068" y="235581"/>
                      <a:pt x="594323" y="243345"/>
                      <a:pt x="574778" y="243345"/>
                    </a:cubicBezTo>
                    <a:lnTo>
                      <a:pt x="73696" y="243345"/>
                    </a:lnTo>
                    <a:cubicBezTo>
                      <a:pt x="54150" y="243345"/>
                      <a:pt x="35406" y="235581"/>
                      <a:pt x="21585" y="221760"/>
                    </a:cubicBezTo>
                    <a:cubicBezTo>
                      <a:pt x="7764" y="207939"/>
                      <a:pt x="0" y="189195"/>
                      <a:pt x="0" y="169649"/>
                    </a:cubicBezTo>
                    <a:lnTo>
                      <a:pt x="0" y="73696"/>
                    </a:lnTo>
                    <a:cubicBezTo>
                      <a:pt x="0" y="54150"/>
                      <a:pt x="7764" y="35406"/>
                      <a:pt x="21585" y="21585"/>
                    </a:cubicBezTo>
                    <a:cubicBezTo>
                      <a:pt x="35406" y="7764"/>
                      <a:pt x="54150" y="0"/>
                      <a:pt x="73696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 w="59531" cap="rnd">
                <a:solidFill>
                  <a:srgbClr val="01203B"/>
                </a:solidFill>
                <a:prstDash val="dash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114300"/>
                <a:ext cx="648473" cy="3576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7721"/>
                  </a:lnSpc>
                </a:pPr>
                <a:r>
                  <a:rPr lang="en-US" b="true" sz="5515">
                    <a:solidFill>
                      <a:srgbClr val="0E1F43"/>
                    </a:solidFill>
                    <a:latin typeface="Sora Semi-Bold"/>
                    <a:ea typeface="Sora Semi-Bold"/>
                    <a:cs typeface="Sora Semi-Bold"/>
                    <a:sym typeface="Sora Semi-Bold"/>
                  </a:rPr>
                  <a:t>Task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0151868" y="4168616"/>
              <a:ext cx="6771731" cy="2541147"/>
              <a:chOff x="0" y="0"/>
              <a:chExt cx="648473" cy="24334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48473" cy="243345"/>
              </a:xfrm>
              <a:custGeom>
                <a:avLst/>
                <a:gdLst/>
                <a:ahLst/>
                <a:cxnLst/>
                <a:rect r="r" b="b" t="t" l="l"/>
                <a:pathLst>
                  <a:path h="243345" w="648473">
                    <a:moveTo>
                      <a:pt x="73696" y="0"/>
                    </a:moveTo>
                    <a:lnTo>
                      <a:pt x="574778" y="0"/>
                    </a:lnTo>
                    <a:cubicBezTo>
                      <a:pt x="594323" y="0"/>
                      <a:pt x="613068" y="7764"/>
                      <a:pt x="626889" y="21585"/>
                    </a:cubicBezTo>
                    <a:cubicBezTo>
                      <a:pt x="640709" y="35406"/>
                      <a:pt x="648473" y="54150"/>
                      <a:pt x="648473" y="73696"/>
                    </a:cubicBezTo>
                    <a:lnTo>
                      <a:pt x="648473" y="169649"/>
                    </a:lnTo>
                    <a:cubicBezTo>
                      <a:pt x="648473" y="189195"/>
                      <a:pt x="640709" y="207939"/>
                      <a:pt x="626889" y="221760"/>
                    </a:cubicBezTo>
                    <a:cubicBezTo>
                      <a:pt x="613068" y="235581"/>
                      <a:pt x="594323" y="243345"/>
                      <a:pt x="574778" y="243345"/>
                    </a:cubicBezTo>
                    <a:lnTo>
                      <a:pt x="73696" y="243345"/>
                    </a:lnTo>
                    <a:cubicBezTo>
                      <a:pt x="54150" y="243345"/>
                      <a:pt x="35406" y="235581"/>
                      <a:pt x="21585" y="221760"/>
                    </a:cubicBezTo>
                    <a:cubicBezTo>
                      <a:pt x="7764" y="207939"/>
                      <a:pt x="0" y="189195"/>
                      <a:pt x="0" y="169649"/>
                    </a:cubicBezTo>
                    <a:lnTo>
                      <a:pt x="0" y="73696"/>
                    </a:lnTo>
                    <a:cubicBezTo>
                      <a:pt x="0" y="54150"/>
                      <a:pt x="7764" y="35406"/>
                      <a:pt x="21585" y="21585"/>
                    </a:cubicBezTo>
                    <a:cubicBezTo>
                      <a:pt x="35406" y="7764"/>
                      <a:pt x="54150" y="0"/>
                      <a:pt x="73696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 w="59531" cap="rnd">
                <a:solidFill>
                  <a:srgbClr val="01203B"/>
                </a:solidFill>
                <a:prstDash val="dash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114300"/>
                <a:ext cx="648473" cy="3576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7721"/>
                  </a:lnSpc>
                </a:pPr>
                <a:r>
                  <a:rPr lang="en-US" b="true" sz="5515">
                    <a:solidFill>
                      <a:srgbClr val="0E1F43"/>
                    </a:solidFill>
                    <a:latin typeface="Sora Semi-Bold"/>
                    <a:ea typeface="Sora Semi-Bold"/>
                    <a:cs typeface="Sora Semi-Bold"/>
                    <a:sym typeface="Sora Semi-Bold"/>
                  </a:rPr>
                  <a:t>Task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10151868" y="6945534"/>
              <a:ext cx="6771731" cy="2541147"/>
              <a:chOff x="0" y="0"/>
              <a:chExt cx="648473" cy="243345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48473" cy="243345"/>
              </a:xfrm>
              <a:custGeom>
                <a:avLst/>
                <a:gdLst/>
                <a:ahLst/>
                <a:cxnLst/>
                <a:rect r="r" b="b" t="t" l="l"/>
                <a:pathLst>
                  <a:path h="243345" w="648473">
                    <a:moveTo>
                      <a:pt x="73696" y="0"/>
                    </a:moveTo>
                    <a:lnTo>
                      <a:pt x="574778" y="0"/>
                    </a:lnTo>
                    <a:cubicBezTo>
                      <a:pt x="594323" y="0"/>
                      <a:pt x="613068" y="7764"/>
                      <a:pt x="626889" y="21585"/>
                    </a:cubicBezTo>
                    <a:cubicBezTo>
                      <a:pt x="640709" y="35406"/>
                      <a:pt x="648473" y="54150"/>
                      <a:pt x="648473" y="73696"/>
                    </a:cubicBezTo>
                    <a:lnTo>
                      <a:pt x="648473" y="169649"/>
                    </a:lnTo>
                    <a:cubicBezTo>
                      <a:pt x="648473" y="189195"/>
                      <a:pt x="640709" y="207939"/>
                      <a:pt x="626889" y="221760"/>
                    </a:cubicBezTo>
                    <a:cubicBezTo>
                      <a:pt x="613068" y="235581"/>
                      <a:pt x="594323" y="243345"/>
                      <a:pt x="574778" y="243345"/>
                    </a:cubicBezTo>
                    <a:lnTo>
                      <a:pt x="73696" y="243345"/>
                    </a:lnTo>
                    <a:cubicBezTo>
                      <a:pt x="54150" y="243345"/>
                      <a:pt x="35406" y="235581"/>
                      <a:pt x="21585" y="221760"/>
                    </a:cubicBezTo>
                    <a:cubicBezTo>
                      <a:pt x="7764" y="207939"/>
                      <a:pt x="0" y="189195"/>
                      <a:pt x="0" y="169649"/>
                    </a:cubicBezTo>
                    <a:lnTo>
                      <a:pt x="0" y="73696"/>
                    </a:lnTo>
                    <a:cubicBezTo>
                      <a:pt x="0" y="54150"/>
                      <a:pt x="7764" y="35406"/>
                      <a:pt x="21585" y="21585"/>
                    </a:cubicBezTo>
                    <a:cubicBezTo>
                      <a:pt x="35406" y="7764"/>
                      <a:pt x="54150" y="0"/>
                      <a:pt x="73696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 w="59531" cap="rnd">
                <a:solidFill>
                  <a:srgbClr val="01203B"/>
                </a:solidFill>
                <a:prstDash val="dash"/>
                <a:round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114300"/>
                <a:ext cx="648473" cy="3576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7721"/>
                  </a:lnSpc>
                </a:pPr>
                <a:r>
                  <a:rPr lang="en-US" b="true" sz="5515">
                    <a:solidFill>
                      <a:srgbClr val="0E1F43"/>
                    </a:solidFill>
                    <a:latin typeface="Sora Semi-Bold"/>
                    <a:ea typeface="Sora Semi-Bold"/>
                    <a:cs typeface="Sora Semi-Bold"/>
                    <a:sym typeface="Sora Semi-Bold"/>
                  </a:rPr>
                  <a:t>Task</a:t>
                </a: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11649424" y="9878451"/>
              <a:ext cx="3776619" cy="15419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24"/>
                </a:lnSpc>
                <a:spcBef>
                  <a:spcPct val="0"/>
                </a:spcBef>
              </a:pPr>
              <a:r>
                <a:rPr lang="en-US" b="true" sz="4660">
                  <a:solidFill>
                    <a:srgbClr val="000000"/>
                  </a:solidFill>
                  <a:latin typeface="Sora Semi-Bold"/>
                  <a:ea typeface="Sora Semi-Bold"/>
                  <a:cs typeface="Sora Semi-Bold"/>
                  <a:sym typeface="Sora Semi-Bold"/>
                </a:rPr>
                <a:t>Phase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483810" y="19617670"/>
            <a:ext cx="18437069" cy="109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21"/>
              </a:lnSpc>
            </a:pPr>
            <a:r>
              <a:rPr lang="en-US" sz="5515" b="true">
                <a:solidFill>
                  <a:srgbClr val="D96200"/>
                </a:solidFill>
                <a:latin typeface="Sora Bold"/>
                <a:ea typeface="Sora Bold"/>
                <a:cs typeface="Sora Bold"/>
                <a:sym typeface="Sora Bold"/>
              </a:rPr>
              <a:t>Tasks</a:t>
            </a:r>
            <a:r>
              <a:rPr lang="en-US" sz="5515" b="true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 are user-defined names that map to a </a:t>
            </a:r>
            <a:r>
              <a:rPr lang="en-US" sz="5515" b="true">
                <a:solidFill>
                  <a:srgbClr val="D96200"/>
                </a:solidFill>
                <a:latin typeface="Sora Bold"/>
                <a:ea typeface="Sora Bold"/>
                <a:cs typeface="Sora Bold"/>
                <a:sym typeface="Sora Bold"/>
              </a:rPr>
              <a:t>plugin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86682" y="16781264"/>
            <a:ext cx="6377304" cy="128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D96200"/>
                </a:solidFill>
                <a:latin typeface="Sora Semi-Bold"/>
                <a:ea typeface="Sora Semi-Bold"/>
                <a:cs typeface="Sora Semi-Bold"/>
                <a:sym typeface="Sora Semi-Bold"/>
              </a:rPr>
              <a:t>Overview</a:t>
            </a:r>
          </a:p>
        </p:txBody>
      </p:sp>
    </p:spTree>
  </p:cSld>
  <p:clrMapOvr>
    <a:masterClrMapping/>
  </p:clrMapOvr>
  <p:transition spd="slow">
    <p:push dir="l"/>
  </p:transition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250781"/>
            <a:ext cx="7950669" cy="16073438"/>
            <a:chOff x="0" y="0"/>
            <a:chExt cx="134016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016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40162">
                  <a:moveTo>
                    <a:pt x="0" y="0"/>
                  </a:moveTo>
                  <a:lnTo>
                    <a:pt x="1340162" y="0"/>
                  </a:lnTo>
                  <a:lnTo>
                    <a:pt x="13401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E1F4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40162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03761" y="7686675"/>
            <a:ext cx="6943146" cy="293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12"/>
              </a:lnSpc>
            </a:pPr>
            <a:r>
              <a:rPr lang="en-US" b="true" sz="8437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Heft architecture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9714403" y="9239250"/>
            <a:ext cx="5936794" cy="8494150"/>
            <a:chOff x="0" y="0"/>
            <a:chExt cx="7915725" cy="1132553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7915725" cy="11325533"/>
              <a:chOff x="0" y="0"/>
              <a:chExt cx="758024" cy="108455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58025" cy="1084554"/>
              </a:xfrm>
              <a:custGeom>
                <a:avLst/>
                <a:gdLst/>
                <a:ahLst/>
                <a:cxnLst/>
                <a:rect r="r" b="b" t="t" l="l"/>
                <a:pathLst>
                  <a:path h="1084554" w="758025">
                    <a:moveTo>
                      <a:pt x="47756" y="0"/>
                    </a:moveTo>
                    <a:lnTo>
                      <a:pt x="710269" y="0"/>
                    </a:lnTo>
                    <a:cubicBezTo>
                      <a:pt x="722934" y="0"/>
                      <a:pt x="735081" y="5031"/>
                      <a:pt x="744037" y="13987"/>
                    </a:cubicBezTo>
                    <a:cubicBezTo>
                      <a:pt x="752993" y="22943"/>
                      <a:pt x="758025" y="35090"/>
                      <a:pt x="758025" y="47756"/>
                    </a:cubicBezTo>
                    <a:lnTo>
                      <a:pt x="758025" y="1036798"/>
                    </a:lnTo>
                    <a:cubicBezTo>
                      <a:pt x="758025" y="1063173"/>
                      <a:pt x="736643" y="1084554"/>
                      <a:pt x="710269" y="1084554"/>
                    </a:cubicBezTo>
                    <a:lnTo>
                      <a:pt x="47756" y="1084554"/>
                    </a:lnTo>
                    <a:cubicBezTo>
                      <a:pt x="21381" y="1084554"/>
                      <a:pt x="0" y="1063173"/>
                      <a:pt x="0" y="1036798"/>
                    </a:cubicBezTo>
                    <a:lnTo>
                      <a:pt x="0" y="47756"/>
                    </a:lnTo>
                    <a:cubicBezTo>
                      <a:pt x="0" y="21381"/>
                      <a:pt x="21381" y="0"/>
                      <a:pt x="47756" y="0"/>
                    </a:cubicBezTo>
                    <a:close/>
                  </a:path>
                </a:pathLst>
              </a:custGeom>
              <a:solidFill>
                <a:srgbClr val="ED944B"/>
              </a:solidFill>
              <a:ln w="59531" cap="rnd">
                <a:solidFill>
                  <a:srgbClr val="01203B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114300"/>
                <a:ext cx="758024" cy="1198854"/>
              </a:xfrm>
              <a:prstGeom prst="rect">
                <a:avLst/>
              </a:prstGeom>
            </p:spPr>
            <p:txBody>
              <a:bodyPr anchor="ctr" rtlCol="false" tIns="67063" lIns="67063" bIns="67063" rIns="67063"/>
              <a:lstStyle/>
              <a:p>
                <a:pPr algn="ctr">
                  <a:lnSpc>
                    <a:spcPts val="7721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571997" y="757939"/>
              <a:ext cx="6771731" cy="2541147"/>
              <a:chOff x="0" y="0"/>
              <a:chExt cx="648473" cy="24334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48473" cy="243345"/>
              </a:xfrm>
              <a:custGeom>
                <a:avLst/>
                <a:gdLst/>
                <a:ahLst/>
                <a:cxnLst/>
                <a:rect r="r" b="b" t="t" l="l"/>
                <a:pathLst>
                  <a:path h="243345" w="648473">
                    <a:moveTo>
                      <a:pt x="55824" y="0"/>
                    </a:moveTo>
                    <a:lnTo>
                      <a:pt x="592650" y="0"/>
                    </a:lnTo>
                    <a:cubicBezTo>
                      <a:pt x="607455" y="0"/>
                      <a:pt x="621654" y="5881"/>
                      <a:pt x="632123" y="16350"/>
                    </a:cubicBezTo>
                    <a:cubicBezTo>
                      <a:pt x="642592" y="26819"/>
                      <a:pt x="648473" y="41018"/>
                      <a:pt x="648473" y="55824"/>
                    </a:cubicBezTo>
                    <a:lnTo>
                      <a:pt x="648473" y="187521"/>
                    </a:lnTo>
                    <a:cubicBezTo>
                      <a:pt x="648473" y="202327"/>
                      <a:pt x="642592" y="216526"/>
                      <a:pt x="632123" y="226995"/>
                    </a:cubicBezTo>
                    <a:cubicBezTo>
                      <a:pt x="621654" y="237464"/>
                      <a:pt x="607455" y="243345"/>
                      <a:pt x="592650" y="243345"/>
                    </a:cubicBezTo>
                    <a:lnTo>
                      <a:pt x="55824" y="243345"/>
                    </a:lnTo>
                    <a:cubicBezTo>
                      <a:pt x="41018" y="243345"/>
                      <a:pt x="26819" y="237464"/>
                      <a:pt x="16350" y="226995"/>
                    </a:cubicBezTo>
                    <a:cubicBezTo>
                      <a:pt x="5881" y="216526"/>
                      <a:pt x="0" y="202327"/>
                      <a:pt x="0" y="187521"/>
                    </a:cubicBezTo>
                    <a:lnTo>
                      <a:pt x="0" y="55824"/>
                    </a:lnTo>
                    <a:cubicBezTo>
                      <a:pt x="0" y="41018"/>
                      <a:pt x="5881" y="26819"/>
                      <a:pt x="16350" y="16350"/>
                    </a:cubicBezTo>
                    <a:cubicBezTo>
                      <a:pt x="26819" y="5881"/>
                      <a:pt x="41018" y="0"/>
                      <a:pt x="55824" y="0"/>
                    </a:cubicBezTo>
                    <a:close/>
                  </a:path>
                </a:pathLst>
              </a:custGeom>
              <a:solidFill>
                <a:srgbClr val="D96200"/>
              </a:solidFill>
              <a:ln w="59531" cap="rnd">
                <a:solidFill>
                  <a:srgbClr val="01203B"/>
                </a:solidFill>
                <a:prstDash val="dash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14300"/>
                <a:ext cx="648473" cy="357645"/>
              </a:xfrm>
              <a:prstGeom prst="rect">
                <a:avLst/>
              </a:prstGeom>
            </p:spPr>
            <p:txBody>
              <a:bodyPr anchor="ctr" rtlCol="false" tIns="67063" lIns="67063" bIns="67063" rIns="67063"/>
              <a:lstStyle/>
              <a:p>
                <a:pPr algn="ctr">
                  <a:lnSpc>
                    <a:spcPts val="7721"/>
                  </a:lnSpc>
                </a:pPr>
                <a:r>
                  <a:rPr lang="en-US" b="true" sz="5515">
                    <a:solidFill>
                      <a:srgbClr val="F4F1EA"/>
                    </a:solidFill>
                    <a:latin typeface="Sora Semi-Bold"/>
                    <a:ea typeface="Sora Semi-Bold"/>
                    <a:cs typeface="Sora Semi-Bold"/>
                    <a:sym typeface="Sora Semi-Bold"/>
                  </a:rPr>
                  <a:t>typescript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571997" y="3536928"/>
              <a:ext cx="6771731" cy="2541147"/>
              <a:chOff x="0" y="0"/>
              <a:chExt cx="648473" cy="24334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48473" cy="243345"/>
              </a:xfrm>
              <a:custGeom>
                <a:avLst/>
                <a:gdLst/>
                <a:ahLst/>
                <a:cxnLst/>
                <a:rect r="r" b="b" t="t" l="l"/>
                <a:pathLst>
                  <a:path h="243345" w="648473">
                    <a:moveTo>
                      <a:pt x="55824" y="0"/>
                    </a:moveTo>
                    <a:lnTo>
                      <a:pt x="592650" y="0"/>
                    </a:lnTo>
                    <a:cubicBezTo>
                      <a:pt x="607455" y="0"/>
                      <a:pt x="621654" y="5881"/>
                      <a:pt x="632123" y="16350"/>
                    </a:cubicBezTo>
                    <a:cubicBezTo>
                      <a:pt x="642592" y="26819"/>
                      <a:pt x="648473" y="41018"/>
                      <a:pt x="648473" y="55824"/>
                    </a:cubicBezTo>
                    <a:lnTo>
                      <a:pt x="648473" y="187521"/>
                    </a:lnTo>
                    <a:cubicBezTo>
                      <a:pt x="648473" y="202327"/>
                      <a:pt x="642592" y="216526"/>
                      <a:pt x="632123" y="226995"/>
                    </a:cubicBezTo>
                    <a:cubicBezTo>
                      <a:pt x="621654" y="237464"/>
                      <a:pt x="607455" y="243345"/>
                      <a:pt x="592650" y="243345"/>
                    </a:cubicBezTo>
                    <a:lnTo>
                      <a:pt x="55824" y="243345"/>
                    </a:lnTo>
                    <a:cubicBezTo>
                      <a:pt x="41018" y="243345"/>
                      <a:pt x="26819" y="237464"/>
                      <a:pt x="16350" y="226995"/>
                    </a:cubicBezTo>
                    <a:cubicBezTo>
                      <a:pt x="5881" y="216526"/>
                      <a:pt x="0" y="202327"/>
                      <a:pt x="0" y="187521"/>
                    </a:cubicBezTo>
                    <a:lnTo>
                      <a:pt x="0" y="55824"/>
                    </a:lnTo>
                    <a:cubicBezTo>
                      <a:pt x="0" y="41018"/>
                      <a:pt x="5881" y="26819"/>
                      <a:pt x="16350" y="16350"/>
                    </a:cubicBezTo>
                    <a:cubicBezTo>
                      <a:pt x="26819" y="5881"/>
                      <a:pt x="41018" y="0"/>
                      <a:pt x="55824" y="0"/>
                    </a:cubicBezTo>
                    <a:close/>
                  </a:path>
                </a:pathLst>
              </a:custGeom>
              <a:solidFill>
                <a:srgbClr val="D96200"/>
              </a:solidFill>
              <a:ln w="59531" cap="rnd">
                <a:solidFill>
                  <a:srgbClr val="01203B"/>
                </a:solidFill>
                <a:prstDash val="dash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114300"/>
                <a:ext cx="648473" cy="357645"/>
              </a:xfrm>
              <a:prstGeom prst="rect">
                <a:avLst/>
              </a:prstGeom>
            </p:spPr>
            <p:txBody>
              <a:bodyPr anchor="ctr" rtlCol="false" tIns="67063" lIns="67063" bIns="67063" rIns="67063"/>
              <a:lstStyle/>
              <a:p>
                <a:pPr algn="ctr">
                  <a:lnSpc>
                    <a:spcPts val="7721"/>
                  </a:lnSpc>
                </a:pPr>
                <a:r>
                  <a:rPr lang="en-US" b="true" sz="5515">
                    <a:solidFill>
                      <a:srgbClr val="F4F1EA"/>
                    </a:solidFill>
                    <a:latin typeface="Sora Semi-Bold"/>
                    <a:ea typeface="Sora Semi-Bold"/>
                    <a:cs typeface="Sora Semi-Bold"/>
                    <a:sym typeface="Sora Semi-Bold"/>
                  </a:rPr>
                  <a:t>lint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71997" y="6313846"/>
              <a:ext cx="6771731" cy="2541147"/>
              <a:chOff x="0" y="0"/>
              <a:chExt cx="648473" cy="24334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48473" cy="243345"/>
              </a:xfrm>
              <a:custGeom>
                <a:avLst/>
                <a:gdLst/>
                <a:ahLst/>
                <a:cxnLst/>
                <a:rect r="r" b="b" t="t" l="l"/>
                <a:pathLst>
                  <a:path h="243345" w="648473">
                    <a:moveTo>
                      <a:pt x="55824" y="0"/>
                    </a:moveTo>
                    <a:lnTo>
                      <a:pt x="592650" y="0"/>
                    </a:lnTo>
                    <a:cubicBezTo>
                      <a:pt x="607455" y="0"/>
                      <a:pt x="621654" y="5881"/>
                      <a:pt x="632123" y="16350"/>
                    </a:cubicBezTo>
                    <a:cubicBezTo>
                      <a:pt x="642592" y="26819"/>
                      <a:pt x="648473" y="41018"/>
                      <a:pt x="648473" y="55824"/>
                    </a:cubicBezTo>
                    <a:lnTo>
                      <a:pt x="648473" y="187521"/>
                    </a:lnTo>
                    <a:cubicBezTo>
                      <a:pt x="648473" y="202327"/>
                      <a:pt x="642592" y="216526"/>
                      <a:pt x="632123" y="226995"/>
                    </a:cubicBezTo>
                    <a:cubicBezTo>
                      <a:pt x="621654" y="237464"/>
                      <a:pt x="607455" y="243345"/>
                      <a:pt x="592650" y="243345"/>
                    </a:cubicBezTo>
                    <a:lnTo>
                      <a:pt x="55824" y="243345"/>
                    </a:lnTo>
                    <a:cubicBezTo>
                      <a:pt x="41018" y="243345"/>
                      <a:pt x="26819" y="237464"/>
                      <a:pt x="16350" y="226995"/>
                    </a:cubicBezTo>
                    <a:cubicBezTo>
                      <a:pt x="5881" y="216526"/>
                      <a:pt x="0" y="202327"/>
                      <a:pt x="0" y="187521"/>
                    </a:cubicBezTo>
                    <a:lnTo>
                      <a:pt x="0" y="55824"/>
                    </a:lnTo>
                    <a:cubicBezTo>
                      <a:pt x="0" y="41018"/>
                      <a:pt x="5881" y="26819"/>
                      <a:pt x="16350" y="16350"/>
                    </a:cubicBezTo>
                    <a:cubicBezTo>
                      <a:pt x="26819" y="5881"/>
                      <a:pt x="41018" y="0"/>
                      <a:pt x="55824" y="0"/>
                    </a:cubicBezTo>
                    <a:close/>
                  </a:path>
                </a:pathLst>
              </a:custGeom>
              <a:solidFill>
                <a:srgbClr val="D96200"/>
              </a:solidFill>
              <a:ln w="59531" cap="rnd">
                <a:solidFill>
                  <a:srgbClr val="01203B"/>
                </a:solidFill>
                <a:prstDash val="dash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14300"/>
                <a:ext cx="648473" cy="357645"/>
              </a:xfrm>
              <a:prstGeom prst="rect">
                <a:avLst/>
              </a:prstGeom>
            </p:spPr>
            <p:txBody>
              <a:bodyPr anchor="ctr" rtlCol="false" tIns="67063" lIns="67063" bIns="67063" rIns="67063"/>
              <a:lstStyle/>
              <a:p>
                <a:pPr algn="ctr">
                  <a:lnSpc>
                    <a:spcPts val="7721"/>
                  </a:lnSpc>
                </a:pPr>
                <a:r>
                  <a:rPr lang="en-US" b="true" sz="5515">
                    <a:solidFill>
                      <a:srgbClr val="F4F1EA"/>
                    </a:solidFill>
                    <a:latin typeface="Sora Semi-Bold"/>
                    <a:ea typeface="Sora Semi-Bold"/>
                    <a:cs typeface="Sora Semi-Bold"/>
                    <a:sym typeface="Sora Semi-Bold"/>
                  </a:rPr>
                  <a:t>webpack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069553" y="9236122"/>
              <a:ext cx="3776619" cy="1545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23"/>
                </a:lnSpc>
                <a:spcBef>
                  <a:spcPct val="0"/>
                </a:spcBef>
              </a:pPr>
              <a:r>
                <a:rPr lang="en-US" b="true" sz="4659">
                  <a:solidFill>
                    <a:srgbClr val="F4F1EA"/>
                  </a:solidFill>
                  <a:latin typeface="Sora Semi-Bold"/>
                  <a:ea typeface="Sora Semi-Bold"/>
                  <a:cs typeface="Sora Semi-Bold"/>
                  <a:sym typeface="Sora Semi-Bold"/>
                </a:rPr>
                <a:t>build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566609" y="9239250"/>
            <a:ext cx="5936794" cy="8469646"/>
            <a:chOff x="0" y="0"/>
            <a:chExt cx="758024" cy="1081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8025" cy="1081425"/>
            </a:xfrm>
            <a:custGeom>
              <a:avLst/>
              <a:gdLst/>
              <a:ahLst/>
              <a:cxnLst/>
              <a:rect r="r" b="b" t="t" l="l"/>
              <a:pathLst>
                <a:path h="1081425" w="758025">
                  <a:moveTo>
                    <a:pt x="30564" y="0"/>
                  </a:moveTo>
                  <a:lnTo>
                    <a:pt x="727461" y="0"/>
                  </a:lnTo>
                  <a:cubicBezTo>
                    <a:pt x="735567" y="0"/>
                    <a:pt x="743341" y="3220"/>
                    <a:pt x="749073" y="8952"/>
                  </a:cubicBezTo>
                  <a:cubicBezTo>
                    <a:pt x="754804" y="14684"/>
                    <a:pt x="758025" y="22458"/>
                    <a:pt x="758025" y="30564"/>
                  </a:cubicBezTo>
                  <a:lnTo>
                    <a:pt x="758025" y="1050862"/>
                  </a:lnTo>
                  <a:cubicBezTo>
                    <a:pt x="758025" y="1058968"/>
                    <a:pt x="754804" y="1066742"/>
                    <a:pt x="749073" y="1072473"/>
                  </a:cubicBezTo>
                  <a:cubicBezTo>
                    <a:pt x="743341" y="1078205"/>
                    <a:pt x="735567" y="1081425"/>
                    <a:pt x="727461" y="1081425"/>
                  </a:cubicBezTo>
                  <a:lnTo>
                    <a:pt x="30564" y="1081425"/>
                  </a:lnTo>
                  <a:cubicBezTo>
                    <a:pt x="22458" y="1081425"/>
                    <a:pt x="14684" y="1078205"/>
                    <a:pt x="8952" y="1072473"/>
                  </a:cubicBezTo>
                  <a:cubicBezTo>
                    <a:pt x="3220" y="1066742"/>
                    <a:pt x="0" y="1058968"/>
                    <a:pt x="0" y="1050862"/>
                  </a:cubicBezTo>
                  <a:lnTo>
                    <a:pt x="0" y="30564"/>
                  </a:lnTo>
                  <a:cubicBezTo>
                    <a:pt x="0" y="22458"/>
                    <a:pt x="3220" y="14684"/>
                    <a:pt x="8952" y="8952"/>
                  </a:cubicBezTo>
                  <a:cubicBezTo>
                    <a:pt x="14684" y="3220"/>
                    <a:pt x="22458" y="0"/>
                    <a:pt x="30564" y="0"/>
                  </a:cubicBezTo>
                  <a:close/>
                </a:path>
              </a:pathLst>
            </a:custGeom>
            <a:solidFill>
              <a:srgbClr val="A6A6A6"/>
            </a:solidFill>
            <a:ln w="59531" cap="rnd">
              <a:solidFill>
                <a:srgbClr val="01203B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14300"/>
              <a:ext cx="758024" cy="1195725"/>
            </a:xfrm>
            <a:prstGeom prst="rect">
              <a:avLst/>
            </a:prstGeom>
          </p:spPr>
          <p:txBody>
            <a:bodyPr anchor="ctr" rtlCol="false" tIns="67063" lIns="67063" bIns="67063" rIns="67063"/>
            <a:lstStyle/>
            <a:p>
              <a:pPr algn="ctr">
                <a:lnSpc>
                  <a:spcPts val="7721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995607" y="9807704"/>
            <a:ext cx="5078798" cy="1905861"/>
            <a:chOff x="0" y="0"/>
            <a:chExt cx="648473" cy="2433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8473" cy="243345"/>
            </a:xfrm>
            <a:custGeom>
              <a:avLst/>
              <a:gdLst/>
              <a:ahLst/>
              <a:cxnLst/>
              <a:rect r="r" b="b" t="t" l="l"/>
              <a:pathLst>
                <a:path h="243345" w="648473">
                  <a:moveTo>
                    <a:pt x="35727" y="0"/>
                  </a:moveTo>
                  <a:lnTo>
                    <a:pt x="612746" y="0"/>
                  </a:lnTo>
                  <a:cubicBezTo>
                    <a:pt x="622222" y="0"/>
                    <a:pt x="631309" y="3764"/>
                    <a:pt x="638009" y="10464"/>
                  </a:cubicBezTo>
                  <a:cubicBezTo>
                    <a:pt x="644709" y="17164"/>
                    <a:pt x="648473" y="26252"/>
                    <a:pt x="648473" y="35727"/>
                  </a:cubicBezTo>
                  <a:lnTo>
                    <a:pt x="648473" y="207618"/>
                  </a:lnTo>
                  <a:cubicBezTo>
                    <a:pt x="648473" y="217093"/>
                    <a:pt x="644709" y="226181"/>
                    <a:pt x="638009" y="232881"/>
                  </a:cubicBezTo>
                  <a:cubicBezTo>
                    <a:pt x="631309" y="239581"/>
                    <a:pt x="622222" y="243345"/>
                    <a:pt x="612746" y="243345"/>
                  </a:cubicBezTo>
                  <a:lnTo>
                    <a:pt x="35727" y="243345"/>
                  </a:lnTo>
                  <a:cubicBezTo>
                    <a:pt x="26252" y="243345"/>
                    <a:pt x="17164" y="239581"/>
                    <a:pt x="10464" y="232881"/>
                  </a:cubicBezTo>
                  <a:cubicBezTo>
                    <a:pt x="3764" y="226181"/>
                    <a:pt x="0" y="217093"/>
                    <a:pt x="0" y="207618"/>
                  </a:cubicBezTo>
                  <a:lnTo>
                    <a:pt x="0" y="35727"/>
                  </a:lnTo>
                  <a:cubicBezTo>
                    <a:pt x="0" y="26252"/>
                    <a:pt x="3764" y="17164"/>
                    <a:pt x="10464" y="10464"/>
                  </a:cubicBezTo>
                  <a:cubicBezTo>
                    <a:pt x="17164" y="3764"/>
                    <a:pt x="26252" y="0"/>
                    <a:pt x="35727" y="0"/>
                  </a:cubicBezTo>
                  <a:close/>
                </a:path>
              </a:pathLst>
            </a:custGeom>
            <a:solidFill>
              <a:srgbClr val="D9D9D9"/>
            </a:solidFill>
            <a:ln w="59531" cap="rnd">
              <a:solidFill>
                <a:srgbClr val="01203B"/>
              </a:solidFill>
              <a:prstDash val="dash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114300"/>
              <a:ext cx="648473" cy="357645"/>
            </a:xfrm>
            <a:prstGeom prst="rect">
              <a:avLst/>
            </a:prstGeom>
          </p:spPr>
          <p:txBody>
            <a:bodyPr anchor="ctr" rtlCol="false" tIns="67063" lIns="67063" bIns="67063" rIns="67063"/>
            <a:lstStyle/>
            <a:p>
              <a:pPr algn="ctr">
                <a:lnSpc>
                  <a:spcPts val="7721"/>
                </a:lnSpc>
              </a:pPr>
              <a:r>
                <a:rPr lang="en-US" b="true" sz="5515">
                  <a:solidFill>
                    <a:srgbClr val="0E1F43"/>
                  </a:solidFill>
                  <a:latin typeface="Sora Semi-Bold"/>
                  <a:ea typeface="Sora Semi-Bold"/>
                  <a:cs typeface="Sora Semi-Bold"/>
                  <a:sym typeface="Sora Semi-Bold"/>
                </a:rPr>
                <a:t>Task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995607" y="11891946"/>
            <a:ext cx="5078798" cy="1905861"/>
            <a:chOff x="0" y="0"/>
            <a:chExt cx="648473" cy="24334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8473" cy="243345"/>
            </a:xfrm>
            <a:custGeom>
              <a:avLst/>
              <a:gdLst/>
              <a:ahLst/>
              <a:cxnLst/>
              <a:rect r="r" b="b" t="t" l="l"/>
              <a:pathLst>
                <a:path h="243345" w="648473">
                  <a:moveTo>
                    <a:pt x="35727" y="0"/>
                  </a:moveTo>
                  <a:lnTo>
                    <a:pt x="612746" y="0"/>
                  </a:lnTo>
                  <a:cubicBezTo>
                    <a:pt x="622222" y="0"/>
                    <a:pt x="631309" y="3764"/>
                    <a:pt x="638009" y="10464"/>
                  </a:cubicBezTo>
                  <a:cubicBezTo>
                    <a:pt x="644709" y="17164"/>
                    <a:pt x="648473" y="26252"/>
                    <a:pt x="648473" y="35727"/>
                  </a:cubicBezTo>
                  <a:lnTo>
                    <a:pt x="648473" y="207618"/>
                  </a:lnTo>
                  <a:cubicBezTo>
                    <a:pt x="648473" y="217093"/>
                    <a:pt x="644709" y="226181"/>
                    <a:pt x="638009" y="232881"/>
                  </a:cubicBezTo>
                  <a:cubicBezTo>
                    <a:pt x="631309" y="239581"/>
                    <a:pt x="622222" y="243345"/>
                    <a:pt x="612746" y="243345"/>
                  </a:cubicBezTo>
                  <a:lnTo>
                    <a:pt x="35727" y="243345"/>
                  </a:lnTo>
                  <a:cubicBezTo>
                    <a:pt x="26252" y="243345"/>
                    <a:pt x="17164" y="239581"/>
                    <a:pt x="10464" y="232881"/>
                  </a:cubicBezTo>
                  <a:cubicBezTo>
                    <a:pt x="3764" y="226181"/>
                    <a:pt x="0" y="217093"/>
                    <a:pt x="0" y="207618"/>
                  </a:cubicBezTo>
                  <a:lnTo>
                    <a:pt x="0" y="35727"/>
                  </a:lnTo>
                  <a:cubicBezTo>
                    <a:pt x="0" y="26252"/>
                    <a:pt x="3764" y="17164"/>
                    <a:pt x="10464" y="10464"/>
                  </a:cubicBezTo>
                  <a:cubicBezTo>
                    <a:pt x="17164" y="3764"/>
                    <a:pt x="26252" y="0"/>
                    <a:pt x="35727" y="0"/>
                  </a:cubicBezTo>
                  <a:close/>
                </a:path>
              </a:pathLst>
            </a:custGeom>
            <a:solidFill>
              <a:srgbClr val="D9D9D9"/>
            </a:solidFill>
            <a:ln w="59531" cap="rnd">
              <a:solidFill>
                <a:srgbClr val="01203B"/>
              </a:solidFill>
              <a:prstDash val="dash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114300"/>
              <a:ext cx="648473" cy="357645"/>
            </a:xfrm>
            <a:prstGeom prst="rect">
              <a:avLst/>
            </a:prstGeom>
          </p:spPr>
          <p:txBody>
            <a:bodyPr anchor="ctr" rtlCol="false" tIns="67063" lIns="67063" bIns="67063" rIns="67063"/>
            <a:lstStyle/>
            <a:p>
              <a:pPr algn="ctr">
                <a:lnSpc>
                  <a:spcPts val="7721"/>
                </a:lnSpc>
              </a:pPr>
              <a:r>
                <a:rPr lang="en-US" b="true" sz="5515">
                  <a:solidFill>
                    <a:srgbClr val="0E1F43"/>
                  </a:solidFill>
                  <a:latin typeface="Sora Semi-Bold"/>
                  <a:ea typeface="Sora Semi-Bold"/>
                  <a:cs typeface="Sora Semi-Bold"/>
                  <a:sym typeface="Sora Semi-Bold"/>
                </a:rPr>
                <a:t>Task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995607" y="13974634"/>
            <a:ext cx="5078798" cy="1905861"/>
            <a:chOff x="0" y="0"/>
            <a:chExt cx="648473" cy="2433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8473" cy="243345"/>
            </a:xfrm>
            <a:custGeom>
              <a:avLst/>
              <a:gdLst/>
              <a:ahLst/>
              <a:cxnLst/>
              <a:rect r="r" b="b" t="t" l="l"/>
              <a:pathLst>
                <a:path h="243345" w="648473">
                  <a:moveTo>
                    <a:pt x="35727" y="0"/>
                  </a:moveTo>
                  <a:lnTo>
                    <a:pt x="612746" y="0"/>
                  </a:lnTo>
                  <a:cubicBezTo>
                    <a:pt x="622222" y="0"/>
                    <a:pt x="631309" y="3764"/>
                    <a:pt x="638009" y="10464"/>
                  </a:cubicBezTo>
                  <a:cubicBezTo>
                    <a:pt x="644709" y="17164"/>
                    <a:pt x="648473" y="26252"/>
                    <a:pt x="648473" y="35727"/>
                  </a:cubicBezTo>
                  <a:lnTo>
                    <a:pt x="648473" y="207618"/>
                  </a:lnTo>
                  <a:cubicBezTo>
                    <a:pt x="648473" y="217093"/>
                    <a:pt x="644709" y="226181"/>
                    <a:pt x="638009" y="232881"/>
                  </a:cubicBezTo>
                  <a:cubicBezTo>
                    <a:pt x="631309" y="239581"/>
                    <a:pt x="622222" y="243345"/>
                    <a:pt x="612746" y="243345"/>
                  </a:cubicBezTo>
                  <a:lnTo>
                    <a:pt x="35727" y="243345"/>
                  </a:lnTo>
                  <a:cubicBezTo>
                    <a:pt x="26252" y="243345"/>
                    <a:pt x="17164" y="239581"/>
                    <a:pt x="10464" y="232881"/>
                  </a:cubicBezTo>
                  <a:cubicBezTo>
                    <a:pt x="3764" y="226181"/>
                    <a:pt x="0" y="217093"/>
                    <a:pt x="0" y="207618"/>
                  </a:cubicBezTo>
                  <a:lnTo>
                    <a:pt x="0" y="35727"/>
                  </a:lnTo>
                  <a:cubicBezTo>
                    <a:pt x="0" y="26252"/>
                    <a:pt x="3764" y="17164"/>
                    <a:pt x="10464" y="10464"/>
                  </a:cubicBezTo>
                  <a:cubicBezTo>
                    <a:pt x="17164" y="3764"/>
                    <a:pt x="26252" y="0"/>
                    <a:pt x="35727" y="0"/>
                  </a:cubicBezTo>
                  <a:close/>
                </a:path>
              </a:pathLst>
            </a:custGeom>
            <a:solidFill>
              <a:srgbClr val="D9D9D9"/>
            </a:solidFill>
            <a:ln w="59531" cap="rnd">
              <a:solidFill>
                <a:srgbClr val="01203B"/>
              </a:solidFill>
              <a:prstDash val="dash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114300"/>
              <a:ext cx="648473" cy="357645"/>
            </a:xfrm>
            <a:prstGeom prst="rect">
              <a:avLst/>
            </a:prstGeom>
          </p:spPr>
          <p:txBody>
            <a:bodyPr anchor="ctr" rtlCol="false" tIns="67063" lIns="67063" bIns="67063" rIns="67063"/>
            <a:lstStyle/>
            <a:p>
              <a:pPr algn="ctr">
                <a:lnSpc>
                  <a:spcPts val="7721"/>
                </a:lnSpc>
              </a:pPr>
              <a:r>
                <a:rPr lang="en-US" b="true" sz="5515">
                  <a:solidFill>
                    <a:srgbClr val="0E1F43"/>
                  </a:solidFill>
                  <a:latin typeface="Sora Semi-Bold"/>
                  <a:ea typeface="Sora Semi-Bold"/>
                  <a:cs typeface="Sora Semi-Bold"/>
                  <a:sym typeface="Sora Semi-Bold"/>
                </a:rPr>
                <a:t>Task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118774" y="16105266"/>
            <a:ext cx="2832464" cy="1225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4"/>
              </a:lnSpc>
              <a:spcBef>
                <a:spcPct val="0"/>
              </a:spcBef>
            </a:pPr>
            <a:r>
              <a:rPr lang="en-US" b="true" sz="7281">
                <a:solidFill>
                  <a:srgbClr val="000000"/>
                </a:solidFill>
                <a:latin typeface="Sora Semi-Bold"/>
                <a:ea typeface="Sora Semi-Bold"/>
                <a:cs typeface="Sora Semi-Bold"/>
                <a:sym typeface="Sora Semi-Bold"/>
              </a:rPr>
              <a:t>Phase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86682" y="16781264"/>
            <a:ext cx="6377304" cy="128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D96200"/>
                </a:solidFill>
                <a:latin typeface="Sora Semi-Bold"/>
                <a:ea typeface="Sora Semi-Bold"/>
                <a:cs typeface="Sora Semi-Bold"/>
                <a:sym typeface="Sora Semi-Bold"/>
              </a:rPr>
              <a:t>SPFx phase</a:t>
            </a:r>
          </a:p>
        </p:txBody>
      </p:sp>
    </p:spTree>
  </p:cSld>
  <p:clrMapOvr>
    <a:masterClrMapping/>
  </p:clrMapOvr>
  <p:transition spd="slow">
    <p:push dir="l"/>
  </p:transition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62479" y="7007057"/>
            <a:ext cx="18378315" cy="1415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03231" indent="-651615" lvl="1">
              <a:lnSpc>
                <a:spcPts val="10201"/>
              </a:lnSpc>
              <a:buFont typeface="Arial"/>
              <a:buChar char="•"/>
            </a:pPr>
            <a:r>
              <a:rPr lang="en-US" b="true" sz="6036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Phases contain task</a:t>
            </a:r>
          </a:p>
          <a:p>
            <a:pPr algn="l" marL="2606461" indent="-868820" lvl="2">
              <a:lnSpc>
                <a:spcPts val="10201"/>
              </a:lnSpc>
              <a:buFont typeface="Arial"/>
              <a:buChar char="⚬"/>
            </a:pPr>
            <a:r>
              <a:rPr lang="en-US" sz="6036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User-defined name of a plugin + config</a:t>
            </a:r>
          </a:p>
          <a:p>
            <a:pPr algn="l" marL="1303231" indent="-651615" lvl="1">
              <a:lnSpc>
                <a:spcPts val="10201"/>
              </a:lnSpc>
              <a:buFont typeface="Arial"/>
              <a:buChar char="•"/>
            </a:pPr>
            <a:r>
              <a:rPr lang="en-US" b="true" sz="6036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heft.json</a:t>
            </a:r>
          </a:p>
          <a:p>
            <a:pPr algn="l" marL="2606461" indent="-868820" lvl="2">
              <a:lnSpc>
                <a:spcPts val="10201"/>
              </a:lnSpc>
              <a:buFont typeface="Arial"/>
              <a:buChar char="⚬"/>
            </a:pPr>
            <a:r>
              <a:rPr lang="en-US" sz="6036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Phases grouped in a build configuration</a:t>
            </a:r>
          </a:p>
          <a:p>
            <a:pPr algn="l" marL="1303231" indent="-651615" lvl="1">
              <a:lnSpc>
                <a:spcPts val="10201"/>
              </a:lnSpc>
              <a:buFont typeface="Arial"/>
              <a:buChar char="•"/>
            </a:pPr>
            <a:r>
              <a:rPr lang="en-US" b="true" sz="6036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Rig </a:t>
            </a:r>
            <a:r>
              <a:rPr lang="en-US" sz="6036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[profile]</a:t>
            </a:r>
          </a:p>
          <a:p>
            <a:pPr algn="l" marL="2606461" indent="-868820" lvl="2">
              <a:lnSpc>
                <a:spcPts val="10201"/>
              </a:lnSpc>
              <a:buFont typeface="Arial"/>
              <a:buChar char="⚬"/>
            </a:pPr>
            <a:r>
              <a:rPr lang="en-US" sz="6036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Reusable scenario-based configuration</a:t>
            </a:r>
          </a:p>
          <a:p>
            <a:pPr algn="l" marL="2606461" indent="-868820" lvl="2">
              <a:lnSpc>
                <a:spcPts val="10201"/>
              </a:lnSpc>
              <a:buFont typeface="Arial"/>
              <a:buChar char="⚬"/>
            </a:pPr>
            <a:r>
              <a:rPr lang="en-US" sz="6036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Contains </a:t>
            </a:r>
            <a:r>
              <a:rPr lang="en-US" b="true" sz="6036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heft.json</a:t>
            </a:r>
          </a:p>
          <a:p>
            <a:pPr algn="l" marL="2606461" indent="-868820" lvl="2">
              <a:lnSpc>
                <a:spcPts val="10201"/>
              </a:lnSpc>
              <a:buFont typeface="Arial"/>
              <a:buChar char="⚬"/>
            </a:pPr>
            <a:r>
              <a:rPr lang="en-US" sz="6036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Supports task options in JSON files for easier customization in usage</a:t>
            </a:r>
          </a:p>
          <a:p>
            <a:pPr algn="l" marL="1303231" indent="-651615" lvl="1">
              <a:lnSpc>
                <a:spcPts val="10201"/>
              </a:lnSpc>
              <a:buFont typeface="Arial"/>
              <a:buChar char="•"/>
            </a:pPr>
            <a:r>
              <a:rPr lang="en-US" b="true" sz="6036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Rig Package</a:t>
            </a:r>
          </a:p>
          <a:p>
            <a:pPr algn="l" marL="2606461" indent="-868820" lvl="2">
              <a:lnSpc>
                <a:spcPts val="10201"/>
              </a:lnSpc>
              <a:buFont typeface="Arial"/>
              <a:buChar char="⚬"/>
            </a:pPr>
            <a:r>
              <a:rPr lang="en-US" sz="6036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npm package of 1+ rigs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6250781"/>
            <a:ext cx="7950669" cy="16073438"/>
            <a:chOff x="0" y="0"/>
            <a:chExt cx="1340162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016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40162">
                  <a:moveTo>
                    <a:pt x="0" y="0"/>
                  </a:moveTo>
                  <a:lnTo>
                    <a:pt x="1340162" y="0"/>
                  </a:lnTo>
                  <a:lnTo>
                    <a:pt x="13401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E1F4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40162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03761" y="7686675"/>
            <a:ext cx="6943146" cy="293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12"/>
              </a:lnSpc>
            </a:pPr>
            <a:r>
              <a:rPr lang="en-US" b="true" sz="8437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Heft architecture</a:t>
            </a:r>
          </a:p>
        </p:txBody>
      </p:sp>
    </p:spTree>
  </p:cSld>
  <p:clrMapOvr>
    <a:masterClrMapping/>
  </p:clrMapOvr>
  <p:transition spd="slow">
    <p:push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03822" y="2446959"/>
            <a:ext cx="10822332" cy="10822332"/>
          </a:xfrm>
          <a:custGeom>
            <a:avLst/>
            <a:gdLst/>
            <a:ahLst/>
            <a:cxnLst/>
            <a:rect r="r" b="b" t="t" l="l"/>
            <a:pathLst>
              <a:path h="10822332" w="10822332">
                <a:moveTo>
                  <a:pt x="0" y="0"/>
                </a:moveTo>
                <a:lnTo>
                  <a:pt x="10822332" y="0"/>
                </a:lnTo>
                <a:lnTo>
                  <a:pt x="10822332" y="10822332"/>
                </a:lnTo>
                <a:lnTo>
                  <a:pt x="0" y="108223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23845" y="5680538"/>
            <a:ext cx="13653503" cy="17909762"/>
          </a:xfrm>
          <a:custGeom>
            <a:avLst/>
            <a:gdLst/>
            <a:ahLst/>
            <a:cxnLst/>
            <a:rect r="r" b="b" t="t" l="l"/>
            <a:pathLst>
              <a:path h="17909762" w="13653503">
                <a:moveTo>
                  <a:pt x="0" y="0"/>
                </a:moveTo>
                <a:lnTo>
                  <a:pt x="13653503" y="0"/>
                </a:lnTo>
                <a:lnTo>
                  <a:pt x="13653503" y="17909761"/>
                </a:lnTo>
                <a:lnTo>
                  <a:pt x="0" y="179097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4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38717" y="16831911"/>
            <a:ext cx="28802601" cy="932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73"/>
              </a:lnSpc>
            </a:pPr>
            <a:r>
              <a:rPr lang="en-US" b="true" sz="65248">
                <a:solidFill>
                  <a:srgbClr val="F4F1EA">
                    <a:alpha val="4706"/>
                  </a:srgbClr>
                </a:solidFill>
                <a:latin typeface="Sora Bold"/>
                <a:ea typeface="Sora Bold"/>
                <a:cs typeface="Sora Bold"/>
                <a:sym typeface="Sora Bold"/>
              </a:rPr>
              <a:t>DEMO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4690" y="15061539"/>
            <a:ext cx="23207274" cy="1970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4"/>
              </a:lnSpc>
            </a:pPr>
            <a:r>
              <a:rPr lang="en-US" sz="13749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How Heft Works</a:t>
            </a:r>
          </a:p>
        </p:txBody>
      </p:sp>
    </p:spTree>
  </p:cSld>
  <p:clrMapOvr>
    <a:masterClrMapping/>
  </p:clrMapOvr>
  <p:transition spd="slow">
    <p:push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6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1515" y="11444189"/>
            <a:ext cx="22671969" cy="389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4"/>
              </a:lnSpc>
            </a:pPr>
            <a:r>
              <a:rPr lang="en-US" sz="13749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Heft Toolchain Customization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3803822" y="2446959"/>
            <a:ext cx="10822332" cy="10822332"/>
          </a:xfrm>
          <a:custGeom>
            <a:avLst/>
            <a:gdLst/>
            <a:ahLst/>
            <a:cxnLst/>
            <a:rect r="r" b="b" t="t" l="l"/>
            <a:pathLst>
              <a:path h="10822332" w="10822332">
                <a:moveTo>
                  <a:pt x="0" y="0"/>
                </a:moveTo>
                <a:lnTo>
                  <a:pt x="10822332" y="0"/>
                </a:lnTo>
                <a:lnTo>
                  <a:pt x="10822332" y="10822332"/>
                </a:lnTo>
                <a:lnTo>
                  <a:pt x="0" y="108223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929264" y="17254636"/>
            <a:ext cx="7235422" cy="7235422"/>
          </a:xfrm>
          <a:custGeom>
            <a:avLst/>
            <a:gdLst/>
            <a:ahLst/>
            <a:cxnLst/>
            <a:rect r="r" b="b" t="t" l="l"/>
            <a:pathLst>
              <a:path h="7235422" w="7235422">
                <a:moveTo>
                  <a:pt x="0" y="0"/>
                </a:moveTo>
                <a:lnTo>
                  <a:pt x="7235422" y="0"/>
                </a:lnTo>
                <a:lnTo>
                  <a:pt x="7235422" y="7235423"/>
                </a:lnTo>
                <a:lnTo>
                  <a:pt x="0" y="7235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54006" y="7115175"/>
            <a:ext cx="17165123" cy="1026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03231" indent="-651615" lvl="1">
              <a:lnSpc>
                <a:spcPts val="15090"/>
              </a:lnSpc>
              <a:buFont typeface="Arial"/>
              <a:buChar char="•"/>
            </a:pPr>
            <a:r>
              <a:rPr lang="en-US" b="true" sz="6036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Use third-party gulp tasks</a:t>
            </a:r>
          </a:p>
          <a:p>
            <a:pPr algn="l" marL="1303231" indent="-651615" lvl="1">
              <a:lnSpc>
                <a:spcPts val="15090"/>
              </a:lnSpc>
              <a:buFont typeface="Arial"/>
              <a:buChar char="•"/>
            </a:pPr>
            <a:r>
              <a:rPr lang="en-US" b="true" sz="6036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Create custom gulp tasks</a:t>
            </a:r>
          </a:p>
          <a:p>
            <a:pPr algn="l" marL="1303231" indent="-651615" lvl="1">
              <a:lnSpc>
                <a:spcPts val="15090"/>
              </a:lnSpc>
              <a:buFont typeface="Arial"/>
              <a:buChar char="•"/>
            </a:pPr>
            <a:r>
              <a:rPr lang="en-US" b="true" sz="6036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Run custom script</a:t>
            </a:r>
          </a:p>
          <a:p>
            <a:pPr algn="l" marL="1303231" indent="-651615" lvl="1">
              <a:lnSpc>
                <a:spcPts val="15090"/>
              </a:lnSpc>
              <a:buFont typeface="Arial"/>
              <a:buChar char="•"/>
            </a:pPr>
            <a:r>
              <a:rPr lang="en-US" b="true" sz="6036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Customize webpack configurat</a:t>
            </a:r>
            <a:r>
              <a:rPr lang="en-US" b="true" sz="6036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ions</a:t>
            </a:r>
          </a:p>
          <a:p>
            <a:pPr algn="l" marL="2606461" indent="-868820" lvl="2">
              <a:lnSpc>
                <a:spcPts val="10201"/>
              </a:lnSpc>
              <a:buFont typeface="Arial"/>
              <a:buChar char="⚬"/>
            </a:pPr>
            <a:r>
              <a:rPr lang="en-US" sz="6036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Add plugins such as the Webpack Bundle Analyzer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6250781"/>
            <a:ext cx="9162479" cy="16073438"/>
            <a:chOff x="0" y="0"/>
            <a:chExt cx="1544424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4442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544424">
                  <a:moveTo>
                    <a:pt x="0" y="0"/>
                  </a:moveTo>
                  <a:lnTo>
                    <a:pt x="1544424" y="0"/>
                  </a:lnTo>
                  <a:lnTo>
                    <a:pt x="15444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E1F4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4442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03761" y="7686675"/>
            <a:ext cx="8134673" cy="614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50"/>
              </a:lnSpc>
            </a:pPr>
            <a:r>
              <a:rPr lang="en-US" b="true" sz="8750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Common SPFx Toolchain Modifications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561314" y="7648575"/>
            <a:ext cx="5391648" cy="103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  <a:spcBef>
                <a:spcPct val="0"/>
              </a:spcBef>
            </a:pPr>
            <a:r>
              <a:rPr lang="en-US" sz="5515">
                <a:solidFill>
                  <a:srgbClr val="F4F1EA"/>
                </a:solidFill>
                <a:latin typeface="Consolas"/>
                <a:ea typeface="Consolas"/>
                <a:cs typeface="Consolas"/>
                <a:sym typeface="Consolas"/>
              </a:rPr>
              <a:t>gulp-stylelint</a:t>
            </a:r>
          </a:p>
        </p:txBody>
      </p:sp>
    </p:spTree>
  </p:cSld>
  <p:clrMapOvr>
    <a:masterClrMapping/>
  </p:clrMapOvr>
  <p:transition spd="slow">
    <p:push dir="l"/>
  </p:transition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07344" y="7134423"/>
            <a:ext cx="25375195" cy="1552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031"/>
              </a:lnSpc>
            </a:pPr>
            <a:r>
              <a:rPr lang="en-US" b="true" sz="10937">
                <a:solidFill>
                  <a:srgbClr val="0E1F43"/>
                </a:solidFill>
                <a:latin typeface="Sora Semi-Bold"/>
                <a:ea typeface="Sora Semi-Bold"/>
                <a:cs typeface="Sora Semi-Bold"/>
                <a:sym typeface="Sora Semi-Bold"/>
              </a:rPr>
              <a:t>Customize &amp; Extend Heft Toolchain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07344" y="9835701"/>
            <a:ext cx="25360313" cy="11040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90824" indent="-595412" lvl="1">
              <a:lnSpc>
                <a:spcPts val="9321"/>
              </a:lnSpc>
              <a:buFont typeface="Arial"/>
              <a:buChar char="•"/>
            </a:pPr>
            <a:r>
              <a:rPr lang="en-US" b="true" sz="551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Modify existing tasks by extending plugin options</a:t>
            </a:r>
          </a:p>
          <a:p>
            <a:pPr algn="l">
              <a:lnSpc>
                <a:spcPts val="2757"/>
              </a:lnSpc>
            </a:pPr>
          </a:p>
          <a:p>
            <a:pPr algn="l" marL="1190824" indent="-595412" lvl="1">
              <a:lnSpc>
                <a:spcPts val="9321"/>
              </a:lnSpc>
              <a:buFont typeface="Arial"/>
              <a:buChar char="•"/>
            </a:pPr>
            <a:r>
              <a:rPr lang="en-US" b="true" sz="551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Modify (or create new) phases</a:t>
            </a:r>
          </a:p>
          <a:p>
            <a:pPr algn="l" marL="2381649" indent="-793883" lvl="2">
              <a:lnSpc>
                <a:spcPts val="9321"/>
              </a:lnSpc>
              <a:buFont typeface="Arial"/>
              <a:buChar char="⚬"/>
            </a:pPr>
            <a:r>
              <a:rPr lang="en-US" sz="551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Add, remove, or change tasks</a:t>
            </a:r>
          </a:p>
          <a:p>
            <a:pPr algn="l">
              <a:lnSpc>
                <a:spcPts val="2757"/>
              </a:lnSpc>
            </a:pPr>
          </a:p>
          <a:p>
            <a:pPr algn="l" marL="1190824" indent="-595412" lvl="1">
              <a:lnSpc>
                <a:spcPts val="9321"/>
              </a:lnSpc>
              <a:buFont typeface="Arial"/>
              <a:buChar char="•"/>
            </a:pPr>
            <a:r>
              <a:rPr lang="en-US" b="true" sz="551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Use Heft-included tasks</a:t>
            </a:r>
          </a:p>
          <a:p>
            <a:pPr algn="l">
              <a:lnSpc>
                <a:spcPts val="2757"/>
              </a:lnSpc>
            </a:pPr>
          </a:p>
          <a:p>
            <a:pPr algn="l" marL="1190824" indent="-595412" lvl="1">
              <a:lnSpc>
                <a:spcPts val="9321"/>
              </a:lnSpc>
              <a:buFont typeface="Arial"/>
              <a:buChar char="•"/>
            </a:pPr>
            <a:r>
              <a:rPr lang="en-US" b="true" sz="551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Create custom plugins</a:t>
            </a:r>
          </a:p>
          <a:p>
            <a:pPr algn="l" marL="2381649" indent="-793883" lvl="2">
              <a:lnSpc>
                <a:spcPts val="9321"/>
              </a:lnSpc>
              <a:buFont typeface="Arial"/>
              <a:buChar char="⚬"/>
            </a:pPr>
            <a:r>
              <a:rPr lang="en-US" sz="551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In same SPFx project / reusable npm package</a:t>
            </a:r>
          </a:p>
          <a:p>
            <a:pPr algn="l">
              <a:lnSpc>
                <a:spcPts val="2757"/>
              </a:lnSpc>
            </a:pPr>
          </a:p>
          <a:p>
            <a:pPr algn="l" marL="1190824" indent="-595412" lvl="1">
              <a:lnSpc>
                <a:spcPts val="9321"/>
              </a:lnSpc>
              <a:buFont typeface="Arial"/>
              <a:buChar char="•"/>
            </a:pPr>
            <a:r>
              <a:rPr lang="en-US" b="true" sz="551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Customze webpack configurations with custom script</a:t>
            </a:r>
          </a:p>
          <a:p>
            <a:pPr algn="l">
              <a:lnSpc>
                <a:spcPts val="2757"/>
              </a:lnSpc>
            </a:pPr>
          </a:p>
          <a:p>
            <a:pPr algn="l" marL="1190824" indent="-595412" lvl="1">
              <a:lnSpc>
                <a:spcPts val="9321"/>
              </a:lnSpc>
              <a:buFont typeface="Arial"/>
              <a:buChar char="•"/>
            </a:pPr>
            <a:r>
              <a:rPr lang="en-US" b="true" sz="551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Eject webpack configuration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7344" y="8774410"/>
            <a:ext cx="25360312" cy="65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56"/>
              </a:lnSpc>
            </a:pPr>
            <a:r>
              <a:rPr lang="en-US" b="true" sz="4687">
                <a:solidFill>
                  <a:srgbClr val="D96200"/>
                </a:solidFill>
                <a:latin typeface="Sora Ultra-Bold"/>
                <a:ea typeface="Sora Ultra-Bold"/>
                <a:cs typeface="Sora Ultra-Bold"/>
                <a:sym typeface="Sora Ultra-Bold"/>
              </a:rPr>
              <a:t>MORE TRANSPARENT &amp; EXTENSIBLE THAN LEGACY GULP TOOLCHAIN</a:t>
            </a:r>
          </a:p>
        </p:txBody>
      </p:sp>
    </p:spTree>
  </p:cSld>
  <p:clrMapOvr>
    <a:masterClrMapping/>
  </p:clrMapOvr>
  <p:transition spd="slow">
    <p:push dir="l"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03822" y="2446959"/>
            <a:ext cx="10822332" cy="10822332"/>
          </a:xfrm>
          <a:custGeom>
            <a:avLst/>
            <a:gdLst/>
            <a:ahLst/>
            <a:cxnLst/>
            <a:rect r="r" b="b" t="t" l="l"/>
            <a:pathLst>
              <a:path h="10822332" w="10822332">
                <a:moveTo>
                  <a:pt x="0" y="0"/>
                </a:moveTo>
                <a:lnTo>
                  <a:pt x="10822332" y="0"/>
                </a:lnTo>
                <a:lnTo>
                  <a:pt x="10822332" y="10822332"/>
                </a:lnTo>
                <a:lnTo>
                  <a:pt x="0" y="108223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23845" y="5680538"/>
            <a:ext cx="13653503" cy="17909762"/>
          </a:xfrm>
          <a:custGeom>
            <a:avLst/>
            <a:gdLst/>
            <a:ahLst/>
            <a:cxnLst/>
            <a:rect r="r" b="b" t="t" l="l"/>
            <a:pathLst>
              <a:path h="17909762" w="13653503">
                <a:moveTo>
                  <a:pt x="0" y="0"/>
                </a:moveTo>
                <a:lnTo>
                  <a:pt x="13653503" y="0"/>
                </a:lnTo>
                <a:lnTo>
                  <a:pt x="13653503" y="17909761"/>
                </a:lnTo>
                <a:lnTo>
                  <a:pt x="0" y="179097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4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38717" y="16831911"/>
            <a:ext cx="28802601" cy="932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73"/>
              </a:lnSpc>
            </a:pPr>
            <a:r>
              <a:rPr lang="en-US" b="true" sz="65248">
                <a:solidFill>
                  <a:srgbClr val="F4F1EA">
                    <a:alpha val="4706"/>
                  </a:srgbClr>
                </a:solidFill>
                <a:latin typeface="Sora Bold"/>
                <a:ea typeface="Sora Bold"/>
                <a:cs typeface="Sora Bold"/>
                <a:sym typeface="Sora Bold"/>
              </a:rPr>
              <a:t>DEMO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4690" y="15061539"/>
            <a:ext cx="23207274" cy="389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4"/>
              </a:lnSpc>
            </a:pPr>
            <a:r>
              <a:rPr lang="en-US" sz="13749" b="true">
                <a:solidFill>
                  <a:srgbClr val="F4F1EA"/>
                </a:solidFill>
                <a:latin typeface="Sora Bold"/>
                <a:ea typeface="Sora Bold"/>
                <a:cs typeface="Sora Bold"/>
                <a:sym typeface="Sora Bold"/>
              </a:rPr>
              <a:t>Customize &amp; Extend the SPFx Heft Toolchain</a:t>
            </a:r>
          </a:p>
        </p:txBody>
      </p:sp>
    </p:spTree>
  </p:cSld>
  <p:clrMapOvr>
    <a:masterClrMapping/>
  </p:clrMapOvr>
  <p:transition spd="slow">
    <p:push dir="l"/>
  </p:transition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07344" y="7119640"/>
            <a:ext cx="25360312" cy="159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75"/>
              </a:lnSpc>
            </a:pPr>
            <a:r>
              <a:rPr lang="en-US" b="true" sz="11250">
                <a:solidFill>
                  <a:srgbClr val="0E1F43"/>
                </a:solidFill>
                <a:latin typeface="Sora Semi-Bold"/>
                <a:ea typeface="Sora Semi-Bold"/>
                <a:cs typeface="Sora Semi-Bold"/>
                <a:sym typeface="Sora Semi-Bold"/>
              </a:rPr>
              <a:t>Eject the webpack config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07344" y="9064257"/>
            <a:ext cx="25360313" cy="918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90824" indent="-595412" lvl="1">
              <a:lnSpc>
                <a:spcPts val="9321"/>
              </a:lnSpc>
              <a:buFont typeface="Arial"/>
              <a:buChar char="•"/>
            </a:pPr>
            <a:r>
              <a:rPr lang="en-US" b="true" sz="551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Creates static configurations (dev &amp; prod)</a:t>
            </a:r>
          </a:p>
          <a:p>
            <a:pPr algn="l">
              <a:lnSpc>
                <a:spcPts val="2757"/>
              </a:lnSpc>
            </a:pPr>
          </a:p>
          <a:p>
            <a:pPr algn="l" marL="1190824" indent="-595412" lvl="1">
              <a:lnSpc>
                <a:spcPts val="9321"/>
              </a:lnSpc>
              <a:buFont typeface="Arial"/>
              <a:buChar char="•"/>
            </a:pPr>
            <a:r>
              <a:rPr lang="en-US" b="true" sz="5515">
                <a:solidFill>
                  <a:srgbClr val="FF3131"/>
                </a:solidFill>
                <a:latin typeface="Sora Bold"/>
                <a:ea typeface="Sora Bold"/>
                <a:cs typeface="Sora Bold"/>
                <a:sym typeface="Sora Bold"/>
              </a:rPr>
              <a:t>Use ONLY as the option of last resort</a:t>
            </a:r>
          </a:p>
          <a:p>
            <a:pPr algn="l">
              <a:lnSpc>
                <a:spcPts val="2757"/>
              </a:lnSpc>
            </a:pPr>
          </a:p>
          <a:p>
            <a:pPr algn="l" marL="1190824" indent="-595412" lvl="1">
              <a:lnSpc>
                <a:spcPts val="9321"/>
              </a:lnSpc>
              <a:buFont typeface="Arial"/>
              <a:buChar char="•"/>
            </a:pPr>
            <a:r>
              <a:rPr lang="en-US" b="true" sz="551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One-way operation</a:t>
            </a:r>
          </a:p>
          <a:p>
            <a:pPr algn="l">
              <a:lnSpc>
                <a:spcPts val="2757"/>
              </a:lnSpc>
            </a:pPr>
          </a:p>
          <a:p>
            <a:pPr algn="l" marL="1190824" indent="-595412" lvl="1">
              <a:lnSpc>
                <a:spcPts val="9321"/>
              </a:lnSpc>
              <a:buFont typeface="Arial"/>
              <a:buChar char="•"/>
            </a:pPr>
            <a:r>
              <a:rPr lang="en-US" b="true" sz="5515">
                <a:solidFill>
                  <a:srgbClr val="0E1F43"/>
                </a:solidFill>
                <a:latin typeface="Sora Bold"/>
                <a:ea typeface="Sora Bold"/>
                <a:cs typeface="Sora Bold"/>
                <a:sym typeface="Sora Bold"/>
              </a:rPr>
              <a:t>After ejecting, your project...</a:t>
            </a:r>
          </a:p>
          <a:p>
            <a:pPr algn="l" marL="2381649" indent="-793883" lvl="2">
              <a:lnSpc>
                <a:spcPts val="9321"/>
              </a:lnSpc>
              <a:buFont typeface="Arial"/>
              <a:buChar char="⚬"/>
            </a:pPr>
            <a:r>
              <a:rPr lang="en-US" sz="551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Won’t get future updates to the SPFx toolchain</a:t>
            </a:r>
          </a:p>
          <a:p>
            <a:pPr algn="l" marL="2381649" indent="-793883" lvl="2">
              <a:lnSpc>
                <a:spcPts val="9321"/>
              </a:lnSpc>
              <a:buFont typeface="Arial"/>
              <a:buChar char="⚬"/>
            </a:pPr>
            <a:r>
              <a:rPr lang="en-US" sz="551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Microsoft can’t support your toolchain modifications</a:t>
            </a:r>
          </a:p>
          <a:p>
            <a:pPr algn="l" marL="2381649" indent="-793883" lvl="2">
              <a:lnSpc>
                <a:spcPts val="9321"/>
              </a:lnSpc>
              <a:buFont typeface="Arial"/>
              <a:buChar char="⚬"/>
            </a:pPr>
            <a:r>
              <a:rPr lang="en-US" sz="5515">
                <a:solidFill>
                  <a:srgbClr val="0E1F43"/>
                </a:solidFill>
                <a:latin typeface="Sora"/>
                <a:ea typeface="Sora"/>
                <a:cs typeface="Sora"/>
                <a:sym typeface="Sora"/>
              </a:rPr>
              <a:t>Now fully owns the webpack configuration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32.xml><?xml version="1.0" encoding="utf-8"?>
<p:sld xmlns:p="http://schemas.openxmlformats.org/presentationml/2006/main" xmlns:a="http://schemas.openxmlformats.org/drawingml/2006/main" show="false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53442" y="8917938"/>
            <a:ext cx="12068117" cy="32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62"/>
              </a:lnSpc>
            </a:pPr>
            <a:r>
              <a:rPr lang="en-US" sz="19330" b="true">
                <a:solidFill>
                  <a:srgbClr val="FFDE59"/>
                </a:solidFill>
                <a:latin typeface="Sora Semi-Bold"/>
                <a:ea typeface="Sora Semi-Bold"/>
                <a:cs typeface="Sora Semi-Bold"/>
                <a:sym typeface="Sora Semi-Bold"/>
              </a:rPr>
              <a:t>CLOSING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02814" y="13031797"/>
            <a:ext cx="7169373" cy="248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85"/>
              </a:lnSpc>
            </a:pPr>
            <a:r>
              <a:rPr lang="en-US" sz="7346">
                <a:solidFill>
                  <a:srgbClr val="FFDE59"/>
                </a:solidFill>
                <a:latin typeface="Sora"/>
                <a:ea typeface="Sora"/>
                <a:cs typeface="Sora"/>
                <a:sym typeface="Sora"/>
              </a:rPr>
              <a:t>thanks slide</a:t>
            </a:r>
          </a:p>
          <a:p>
            <a:pPr algn="ctr">
              <a:lnSpc>
                <a:spcPts val="10285"/>
              </a:lnSpc>
            </a:pPr>
            <a:r>
              <a:rPr lang="en-US" sz="7346">
                <a:solidFill>
                  <a:srgbClr val="FFDE59"/>
                </a:solidFill>
                <a:latin typeface="Sora"/>
                <a:ea typeface="Sora"/>
                <a:cs typeface="Sora"/>
                <a:sym typeface="Sora"/>
              </a:rPr>
              <a:t>resources slide</a:t>
            </a:r>
          </a:p>
        </p:txBody>
      </p:sp>
    </p:spTree>
  </p:cSld>
  <p:clrMapOvr>
    <a:masterClrMapping/>
  </p:clrMapOvr>
  <p:transition spd="slow">
    <p:push dir="l"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64125" y="-335801"/>
            <a:ext cx="12567984" cy="12567984"/>
          </a:xfrm>
          <a:custGeom>
            <a:avLst/>
            <a:gdLst/>
            <a:ahLst/>
            <a:cxnLst/>
            <a:rect r="r" b="b" t="t" l="l"/>
            <a:pathLst>
              <a:path h="12567984" w="12567984">
                <a:moveTo>
                  <a:pt x="0" y="0"/>
                </a:moveTo>
                <a:lnTo>
                  <a:pt x="12567985" y="0"/>
                </a:lnTo>
                <a:lnTo>
                  <a:pt x="12567985" y="12567985"/>
                </a:lnTo>
                <a:lnTo>
                  <a:pt x="0" y="12567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614308" y="7373408"/>
            <a:ext cx="12513019" cy="12513019"/>
          </a:xfrm>
          <a:custGeom>
            <a:avLst/>
            <a:gdLst/>
            <a:ahLst/>
            <a:cxnLst/>
            <a:rect r="r" b="b" t="t" l="l"/>
            <a:pathLst>
              <a:path h="12513019" w="12513019">
                <a:moveTo>
                  <a:pt x="0" y="0"/>
                </a:moveTo>
                <a:lnTo>
                  <a:pt x="12513020" y="0"/>
                </a:lnTo>
                <a:lnTo>
                  <a:pt x="12513020" y="12513019"/>
                </a:lnTo>
                <a:lnTo>
                  <a:pt x="0" y="12513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63593" y="15500968"/>
            <a:ext cx="9650716" cy="9650716"/>
          </a:xfrm>
          <a:custGeom>
            <a:avLst/>
            <a:gdLst/>
            <a:ahLst/>
            <a:cxnLst/>
            <a:rect r="r" b="b" t="t" l="l"/>
            <a:pathLst>
              <a:path h="9650716" w="9650716">
                <a:moveTo>
                  <a:pt x="0" y="0"/>
                </a:moveTo>
                <a:lnTo>
                  <a:pt x="9650715" y="0"/>
                </a:lnTo>
                <a:lnTo>
                  <a:pt x="9650715" y="9650716"/>
                </a:lnTo>
                <a:lnTo>
                  <a:pt x="0" y="96507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906599" y="13209015"/>
            <a:ext cx="15286097" cy="6471075"/>
            <a:chOff x="0" y="0"/>
            <a:chExt cx="20381463" cy="86281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6819733"/>
              <a:ext cx="20136604" cy="1808368"/>
              <a:chOff x="0" y="0"/>
              <a:chExt cx="3174860" cy="28511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174860" cy="285118"/>
              </a:xfrm>
              <a:custGeom>
                <a:avLst/>
                <a:gdLst/>
                <a:ahLst/>
                <a:cxnLst/>
                <a:rect r="r" b="b" t="t" l="l"/>
                <a:pathLst>
                  <a:path h="285118" w="3174860">
                    <a:moveTo>
                      <a:pt x="16844" y="0"/>
                    </a:moveTo>
                    <a:lnTo>
                      <a:pt x="3158016" y="0"/>
                    </a:lnTo>
                    <a:cubicBezTo>
                      <a:pt x="3162483" y="0"/>
                      <a:pt x="3166767" y="1775"/>
                      <a:pt x="3169926" y="4933"/>
                    </a:cubicBezTo>
                    <a:cubicBezTo>
                      <a:pt x="3173085" y="8092"/>
                      <a:pt x="3174860" y="12377"/>
                      <a:pt x="3174860" y="16844"/>
                    </a:cubicBezTo>
                    <a:lnTo>
                      <a:pt x="3174860" y="268274"/>
                    </a:lnTo>
                    <a:cubicBezTo>
                      <a:pt x="3174860" y="277577"/>
                      <a:pt x="3167318" y="285118"/>
                      <a:pt x="3158016" y="285118"/>
                    </a:cubicBezTo>
                    <a:lnTo>
                      <a:pt x="16844" y="285118"/>
                    </a:lnTo>
                    <a:cubicBezTo>
                      <a:pt x="7541" y="285118"/>
                      <a:pt x="0" y="277577"/>
                      <a:pt x="0" y="268274"/>
                    </a:cubicBezTo>
                    <a:lnTo>
                      <a:pt x="0" y="16844"/>
                    </a:lnTo>
                    <a:cubicBezTo>
                      <a:pt x="0" y="7541"/>
                      <a:pt x="7541" y="0"/>
                      <a:pt x="16844" y="0"/>
                    </a:cubicBezTo>
                    <a:close/>
                  </a:path>
                </a:pathLst>
              </a:custGeom>
              <a:solidFill>
                <a:srgbClr val="0A50A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3174860" cy="332743"/>
              </a:xfrm>
              <a:prstGeom prst="rect">
                <a:avLst/>
              </a:prstGeom>
            </p:spPr>
            <p:txBody>
              <a:bodyPr anchor="ctr" rtlCol="false" tIns="45397" lIns="45397" bIns="45397" rIns="45397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7349" y="7320742"/>
              <a:ext cx="17313564" cy="847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34"/>
                </a:lnSpc>
              </a:pPr>
              <a:r>
                <a:rPr lang="en-US" b="true" sz="4486" spc="448">
                  <a:solidFill>
                    <a:srgbClr val="F2F2F2"/>
                  </a:solidFill>
                  <a:latin typeface="Sora Bold"/>
                  <a:ea typeface="Sora Bold"/>
                  <a:cs typeface="Sora Bold"/>
                  <a:sym typeface="Sora Bold"/>
                </a:rPr>
                <a:t>CODEDEPLOYGO.LIVE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824569" y="6990097"/>
              <a:ext cx="788955" cy="1461027"/>
            </a:xfrm>
            <a:custGeom>
              <a:avLst/>
              <a:gdLst/>
              <a:ahLst/>
              <a:cxnLst/>
              <a:rect r="r" b="b" t="t" l="l"/>
              <a:pathLst>
                <a:path h="1461027" w="788955">
                  <a:moveTo>
                    <a:pt x="0" y="0"/>
                  </a:moveTo>
                  <a:lnTo>
                    <a:pt x="788955" y="0"/>
                  </a:lnTo>
                  <a:lnTo>
                    <a:pt x="788955" y="1461027"/>
                  </a:lnTo>
                  <a:lnTo>
                    <a:pt x="0" y="1461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0">
              <a:off x="0" y="4548440"/>
              <a:ext cx="20136604" cy="1808368"/>
              <a:chOff x="0" y="0"/>
              <a:chExt cx="3174860" cy="28511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174860" cy="285118"/>
              </a:xfrm>
              <a:custGeom>
                <a:avLst/>
                <a:gdLst/>
                <a:ahLst/>
                <a:cxnLst/>
                <a:rect r="r" b="b" t="t" l="l"/>
                <a:pathLst>
                  <a:path h="285118" w="3174860">
                    <a:moveTo>
                      <a:pt x="16844" y="0"/>
                    </a:moveTo>
                    <a:lnTo>
                      <a:pt x="3158016" y="0"/>
                    </a:lnTo>
                    <a:cubicBezTo>
                      <a:pt x="3162483" y="0"/>
                      <a:pt x="3166767" y="1775"/>
                      <a:pt x="3169926" y="4933"/>
                    </a:cubicBezTo>
                    <a:cubicBezTo>
                      <a:pt x="3173085" y="8092"/>
                      <a:pt x="3174860" y="12377"/>
                      <a:pt x="3174860" y="16844"/>
                    </a:cubicBezTo>
                    <a:lnTo>
                      <a:pt x="3174860" y="268274"/>
                    </a:lnTo>
                    <a:cubicBezTo>
                      <a:pt x="3174860" y="277577"/>
                      <a:pt x="3167318" y="285118"/>
                      <a:pt x="3158016" y="285118"/>
                    </a:cubicBezTo>
                    <a:lnTo>
                      <a:pt x="16844" y="285118"/>
                    </a:lnTo>
                    <a:cubicBezTo>
                      <a:pt x="7541" y="285118"/>
                      <a:pt x="0" y="277577"/>
                      <a:pt x="0" y="268274"/>
                    </a:cubicBezTo>
                    <a:lnTo>
                      <a:pt x="0" y="16844"/>
                    </a:lnTo>
                    <a:cubicBezTo>
                      <a:pt x="0" y="7541"/>
                      <a:pt x="7541" y="0"/>
                      <a:pt x="16844" y="0"/>
                    </a:cubicBezTo>
                    <a:close/>
                  </a:path>
                </a:pathLst>
              </a:custGeom>
              <a:solidFill>
                <a:srgbClr val="F4F1EA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3174860" cy="332743"/>
              </a:xfrm>
              <a:prstGeom prst="rect">
                <a:avLst/>
              </a:prstGeom>
            </p:spPr>
            <p:txBody>
              <a:bodyPr anchor="ctr" rtlCol="false" tIns="45397" lIns="45397" bIns="45397" rIns="45397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457349" y="5049449"/>
              <a:ext cx="17313564" cy="847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34"/>
                </a:lnSpc>
              </a:pPr>
              <a:r>
                <a:rPr lang="en-US" b="true" sz="4486" spc="448">
                  <a:solidFill>
                    <a:srgbClr val="0E1F43"/>
                  </a:solidFill>
                  <a:latin typeface="Sora Bold"/>
                  <a:ea typeface="Sora Bold"/>
                  <a:cs typeface="Sora Bold"/>
                  <a:sym typeface="Sora Bold"/>
                </a:rPr>
                <a:t>ANDREWCONNELL.SOCIAL/YOUTUBE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269073" y="4802336"/>
              <a:ext cx="1851476" cy="1287354"/>
            </a:xfrm>
            <a:custGeom>
              <a:avLst/>
              <a:gdLst/>
              <a:ahLst/>
              <a:cxnLst/>
              <a:rect r="r" b="b" t="t" l="l"/>
              <a:pathLst>
                <a:path h="1287354" w="1851476">
                  <a:moveTo>
                    <a:pt x="0" y="0"/>
                  </a:moveTo>
                  <a:lnTo>
                    <a:pt x="1851476" y="0"/>
                  </a:lnTo>
                  <a:lnTo>
                    <a:pt x="1851476" y="1287354"/>
                  </a:lnTo>
                  <a:lnTo>
                    <a:pt x="0" y="1287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0">
              <a:off x="0" y="2274220"/>
              <a:ext cx="20136604" cy="1808368"/>
              <a:chOff x="0" y="0"/>
              <a:chExt cx="3174860" cy="28511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174860" cy="285118"/>
              </a:xfrm>
              <a:custGeom>
                <a:avLst/>
                <a:gdLst/>
                <a:ahLst/>
                <a:cxnLst/>
                <a:rect r="r" b="b" t="t" l="l"/>
                <a:pathLst>
                  <a:path h="285118" w="3174860">
                    <a:moveTo>
                      <a:pt x="16844" y="0"/>
                    </a:moveTo>
                    <a:lnTo>
                      <a:pt x="3158016" y="0"/>
                    </a:lnTo>
                    <a:cubicBezTo>
                      <a:pt x="3162483" y="0"/>
                      <a:pt x="3166767" y="1775"/>
                      <a:pt x="3169926" y="4933"/>
                    </a:cubicBezTo>
                    <a:cubicBezTo>
                      <a:pt x="3173085" y="8092"/>
                      <a:pt x="3174860" y="12377"/>
                      <a:pt x="3174860" y="16844"/>
                    </a:cubicBezTo>
                    <a:lnTo>
                      <a:pt x="3174860" y="268274"/>
                    </a:lnTo>
                    <a:cubicBezTo>
                      <a:pt x="3174860" y="277577"/>
                      <a:pt x="3167318" y="285118"/>
                      <a:pt x="3158016" y="285118"/>
                    </a:cubicBezTo>
                    <a:lnTo>
                      <a:pt x="16844" y="285118"/>
                    </a:lnTo>
                    <a:cubicBezTo>
                      <a:pt x="7541" y="285118"/>
                      <a:pt x="0" y="277577"/>
                      <a:pt x="0" y="268274"/>
                    </a:cubicBezTo>
                    <a:lnTo>
                      <a:pt x="0" y="16844"/>
                    </a:lnTo>
                    <a:cubicBezTo>
                      <a:pt x="0" y="7541"/>
                      <a:pt x="7541" y="0"/>
                      <a:pt x="16844" y="0"/>
                    </a:cubicBezTo>
                    <a:close/>
                  </a:path>
                </a:pathLst>
              </a:custGeom>
              <a:solidFill>
                <a:srgbClr val="F4F1EA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3174860" cy="332743"/>
              </a:xfrm>
              <a:prstGeom prst="rect">
                <a:avLst/>
              </a:prstGeom>
            </p:spPr>
            <p:txBody>
              <a:bodyPr anchor="ctr" rtlCol="false" tIns="45397" lIns="45397" bIns="45397" rIns="45397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457349" y="2779394"/>
              <a:ext cx="17313564" cy="847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34"/>
                </a:lnSpc>
              </a:pPr>
              <a:r>
                <a:rPr lang="en-US" b="true" sz="4486" spc="448">
                  <a:solidFill>
                    <a:srgbClr val="0E1F43"/>
                  </a:solidFill>
                  <a:latin typeface="Sora Bold"/>
                  <a:ea typeface="Sora Bold"/>
                  <a:cs typeface="Sora Bold"/>
                  <a:sym typeface="Sora Bold"/>
                </a:rPr>
                <a:t>ANDREWCONNELL.SOCIAL/BLUESKY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544522" y="2525668"/>
              <a:ext cx="1300577" cy="1300577"/>
            </a:xfrm>
            <a:custGeom>
              <a:avLst/>
              <a:gdLst/>
              <a:ahLst/>
              <a:cxnLst/>
              <a:rect r="r" b="b" t="t" l="l"/>
              <a:pathLst>
                <a:path h="1300577" w="1300577">
                  <a:moveTo>
                    <a:pt x="0" y="0"/>
                  </a:moveTo>
                  <a:lnTo>
                    <a:pt x="1300578" y="0"/>
                  </a:lnTo>
                  <a:lnTo>
                    <a:pt x="1300578" y="1300577"/>
                  </a:lnTo>
                  <a:lnTo>
                    <a:pt x="0" y="1300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grpSp>
          <p:nvGrpSpPr>
            <p:cNvPr name="Group 21" id="21"/>
            <p:cNvGrpSpPr/>
            <p:nvPr/>
          </p:nvGrpSpPr>
          <p:grpSpPr>
            <a:xfrm rot="0">
              <a:off x="0" y="0"/>
              <a:ext cx="20136604" cy="1808368"/>
              <a:chOff x="0" y="0"/>
              <a:chExt cx="3174860" cy="28511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174860" cy="285118"/>
              </a:xfrm>
              <a:custGeom>
                <a:avLst/>
                <a:gdLst/>
                <a:ahLst/>
                <a:cxnLst/>
                <a:rect r="r" b="b" t="t" l="l"/>
                <a:pathLst>
                  <a:path h="285118" w="3174860">
                    <a:moveTo>
                      <a:pt x="16844" y="0"/>
                    </a:moveTo>
                    <a:lnTo>
                      <a:pt x="3158016" y="0"/>
                    </a:lnTo>
                    <a:cubicBezTo>
                      <a:pt x="3162483" y="0"/>
                      <a:pt x="3166767" y="1775"/>
                      <a:pt x="3169926" y="4933"/>
                    </a:cubicBezTo>
                    <a:cubicBezTo>
                      <a:pt x="3173085" y="8092"/>
                      <a:pt x="3174860" y="12377"/>
                      <a:pt x="3174860" y="16844"/>
                    </a:cubicBezTo>
                    <a:lnTo>
                      <a:pt x="3174860" y="268274"/>
                    </a:lnTo>
                    <a:cubicBezTo>
                      <a:pt x="3174860" y="277577"/>
                      <a:pt x="3167318" y="285118"/>
                      <a:pt x="3158016" y="285118"/>
                    </a:cubicBezTo>
                    <a:lnTo>
                      <a:pt x="16844" y="285118"/>
                    </a:lnTo>
                    <a:cubicBezTo>
                      <a:pt x="7541" y="285118"/>
                      <a:pt x="0" y="277577"/>
                      <a:pt x="0" y="268274"/>
                    </a:cubicBezTo>
                    <a:lnTo>
                      <a:pt x="0" y="16844"/>
                    </a:lnTo>
                    <a:cubicBezTo>
                      <a:pt x="0" y="7541"/>
                      <a:pt x="7541" y="0"/>
                      <a:pt x="16844" y="0"/>
                    </a:cubicBezTo>
                    <a:close/>
                  </a:path>
                </a:pathLst>
              </a:custGeom>
              <a:solidFill>
                <a:srgbClr val="F4F1EA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3174860" cy="332743"/>
              </a:xfrm>
              <a:prstGeom prst="rect">
                <a:avLst/>
              </a:prstGeom>
            </p:spPr>
            <p:txBody>
              <a:bodyPr anchor="ctr" rtlCol="false" tIns="45397" lIns="45397" bIns="45397" rIns="45397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457349" y="507621"/>
              <a:ext cx="17924114" cy="847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34"/>
                </a:lnSpc>
              </a:pPr>
              <a:r>
                <a:rPr lang="en-US" b="true" sz="4486" spc="448">
                  <a:solidFill>
                    <a:srgbClr val="0E1F43"/>
                  </a:solidFill>
                  <a:latin typeface="Sora Bold"/>
                  <a:ea typeface="Sora Bold"/>
                  <a:cs typeface="Sora Bold"/>
                  <a:sym typeface="Sora Bold"/>
                </a:rPr>
                <a:t>ANDREWCONNELL.SOCIAL/LINKEDIN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544522" y="253895"/>
              <a:ext cx="1300577" cy="1300577"/>
            </a:xfrm>
            <a:custGeom>
              <a:avLst/>
              <a:gdLst/>
              <a:ahLst/>
              <a:cxnLst/>
              <a:rect r="r" b="b" t="t" l="l"/>
              <a:pathLst>
                <a:path h="1300577" w="1300577">
                  <a:moveTo>
                    <a:pt x="0" y="0"/>
                  </a:moveTo>
                  <a:lnTo>
                    <a:pt x="1300578" y="0"/>
                  </a:lnTo>
                  <a:lnTo>
                    <a:pt x="1300578" y="1300578"/>
                  </a:lnTo>
                  <a:lnTo>
                    <a:pt x="0" y="13005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607344" y="10002066"/>
            <a:ext cx="14289079" cy="3206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0"/>
              </a:lnSpc>
            </a:pPr>
            <a:r>
              <a:rPr lang="en-US" sz="22500" b="true">
                <a:solidFill>
                  <a:srgbClr val="F4F1EA"/>
                </a:solidFill>
                <a:latin typeface="Sora Semi-Bold"/>
                <a:ea typeface="Sora Semi-Bold"/>
                <a:cs typeface="Sora Semi-Bold"/>
                <a:sym typeface="Sora Semi-Bold"/>
              </a:rPr>
              <a:t>Thanks!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8935679" y="6856201"/>
            <a:ext cx="9088093" cy="14671993"/>
            <a:chOff x="0" y="0"/>
            <a:chExt cx="12117457" cy="1956265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2649546"/>
              <a:ext cx="12117457" cy="16913112"/>
              <a:chOff x="0" y="0"/>
              <a:chExt cx="1531886" cy="213815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531886" cy="2138151"/>
              </a:xfrm>
              <a:custGeom>
                <a:avLst/>
                <a:gdLst/>
                <a:ahLst/>
                <a:cxnLst/>
                <a:rect r="r" b="b" t="t" l="l"/>
                <a:pathLst>
                  <a:path h="2138151" w="1531886">
                    <a:moveTo>
                      <a:pt x="20798" y="0"/>
                    </a:moveTo>
                    <a:lnTo>
                      <a:pt x="1511088" y="0"/>
                    </a:lnTo>
                    <a:cubicBezTo>
                      <a:pt x="1522575" y="0"/>
                      <a:pt x="1531886" y="9311"/>
                      <a:pt x="1531886" y="20798"/>
                    </a:cubicBezTo>
                    <a:lnTo>
                      <a:pt x="1531886" y="2117354"/>
                    </a:lnTo>
                    <a:cubicBezTo>
                      <a:pt x="1531886" y="2128840"/>
                      <a:pt x="1522575" y="2138151"/>
                      <a:pt x="1511088" y="2138151"/>
                    </a:cubicBezTo>
                    <a:lnTo>
                      <a:pt x="20798" y="2138151"/>
                    </a:lnTo>
                    <a:cubicBezTo>
                      <a:pt x="9311" y="2138151"/>
                      <a:pt x="0" y="2128840"/>
                      <a:pt x="0" y="2117354"/>
                    </a:cubicBezTo>
                    <a:lnTo>
                      <a:pt x="0" y="20798"/>
                    </a:lnTo>
                    <a:cubicBezTo>
                      <a:pt x="0" y="9311"/>
                      <a:pt x="9311" y="0"/>
                      <a:pt x="20798" y="0"/>
                    </a:cubicBezTo>
                    <a:close/>
                  </a:path>
                </a:pathLst>
              </a:custGeom>
              <a:solidFill>
                <a:srgbClr val="F4F1EA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1531886" cy="21953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56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231084" y="2916747"/>
              <a:ext cx="11655289" cy="16479829"/>
              <a:chOff x="0" y="0"/>
              <a:chExt cx="1473459" cy="208337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473459" cy="2083376"/>
              </a:xfrm>
              <a:custGeom>
                <a:avLst/>
                <a:gdLst/>
                <a:ahLst/>
                <a:cxnLst/>
                <a:rect r="r" b="b" t="t" l="l"/>
                <a:pathLst>
                  <a:path h="2083376" w="1473459">
                    <a:moveTo>
                      <a:pt x="21622" y="0"/>
                    </a:moveTo>
                    <a:lnTo>
                      <a:pt x="1451836" y="0"/>
                    </a:lnTo>
                    <a:cubicBezTo>
                      <a:pt x="1463778" y="0"/>
                      <a:pt x="1473459" y="9681"/>
                      <a:pt x="1473459" y="21622"/>
                    </a:cubicBezTo>
                    <a:lnTo>
                      <a:pt x="1473459" y="2061753"/>
                    </a:lnTo>
                    <a:cubicBezTo>
                      <a:pt x="1473459" y="2067488"/>
                      <a:pt x="1471181" y="2072988"/>
                      <a:pt x="1467126" y="2077043"/>
                    </a:cubicBezTo>
                    <a:cubicBezTo>
                      <a:pt x="1463071" y="2081098"/>
                      <a:pt x="1457571" y="2083376"/>
                      <a:pt x="1451836" y="2083376"/>
                    </a:cubicBezTo>
                    <a:lnTo>
                      <a:pt x="21622" y="2083376"/>
                    </a:lnTo>
                    <a:cubicBezTo>
                      <a:pt x="15888" y="2083376"/>
                      <a:pt x="10388" y="2081098"/>
                      <a:pt x="6333" y="2077043"/>
                    </a:cubicBezTo>
                    <a:cubicBezTo>
                      <a:pt x="2278" y="2072988"/>
                      <a:pt x="0" y="2067488"/>
                      <a:pt x="0" y="2061753"/>
                    </a:cubicBezTo>
                    <a:lnTo>
                      <a:pt x="0" y="21622"/>
                    </a:lnTo>
                    <a:cubicBezTo>
                      <a:pt x="0" y="15888"/>
                      <a:pt x="2278" y="10388"/>
                      <a:pt x="6333" y="6333"/>
                    </a:cubicBezTo>
                    <a:cubicBezTo>
                      <a:pt x="10388" y="2278"/>
                      <a:pt x="15888" y="0"/>
                      <a:pt x="21622" y="0"/>
                    </a:cubicBezTo>
                    <a:close/>
                  </a:path>
                </a:pathLst>
              </a:custGeom>
              <a:solidFill>
                <a:srgbClr val="0E1F43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1473459" cy="21405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56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3141982" y="0"/>
              <a:ext cx="5833494" cy="5833494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1"/>
                <a:stretch>
                  <a:fillRect l="0" t="0" r="0" b="0"/>
                </a:stretch>
              </a:blipFill>
            </p:spPr>
          </p:sp>
        </p:grpSp>
        <p:sp>
          <p:nvSpPr>
            <p:cNvPr name="Freeform 36" id="36"/>
            <p:cNvSpPr/>
            <p:nvPr/>
          </p:nvSpPr>
          <p:spPr>
            <a:xfrm flipH="false" flipV="false" rot="0">
              <a:off x="2785536" y="10413022"/>
              <a:ext cx="6546385" cy="6546385"/>
            </a:xfrm>
            <a:custGeom>
              <a:avLst/>
              <a:gdLst/>
              <a:ahLst/>
              <a:cxnLst/>
              <a:rect r="r" b="b" t="t" l="l"/>
              <a:pathLst>
                <a:path h="6546385" w="6546385">
                  <a:moveTo>
                    <a:pt x="0" y="0"/>
                  </a:moveTo>
                  <a:lnTo>
                    <a:pt x="6546385" y="0"/>
                  </a:lnTo>
                  <a:lnTo>
                    <a:pt x="6546385" y="6546385"/>
                  </a:lnTo>
                  <a:lnTo>
                    <a:pt x="0" y="6546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1680624" y="7679105"/>
              <a:ext cx="8756210" cy="1668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62"/>
                </a:lnSpc>
              </a:pPr>
              <a:r>
                <a:rPr lang="en-US" sz="3750">
                  <a:solidFill>
                    <a:srgbClr val="F4F1EA"/>
                  </a:solidFill>
                  <a:latin typeface="Sora"/>
                  <a:ea typeface="Sora"/>
                  <a:cs typeface="Sora"/>
                  <a:sym typeface="Sora"/>
                </a:rPr>
                <a:t>Developer · Instructor Writer · Speaker · Coach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231084" y="5756449"/>
              <a:ext cx="11655289" cy="1689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718"/>
                </a:lnSpc>
              </a:pPr>
              <a:r>
                <a:rPr lang="en-US" sz="7656" b="true">
                  <a:solidFill>
                    <a:srgbClr val="F4F1EA"/>
                  </a:solidFill>
                  <a:latin typeface="Sora Semi-Bold"/>
                  <a:ea typeface="Sora Semi-Bold"/>
                  <a:cs typeface="Sora Semi-Bold"/>
                  <a:sym typeface="Sora Semi-Bold"/>
                </a:rPr>
                <a:t>Andrew Connell</a:t>
              </a:r>
            </a:p>
          </p:txBody>
        </p:sp>
        <p:sp>
          <p:nvSpPr>
            <p:cNvPr name="Freeform 39" id="39"/>
            <p:cNvSpPr/>
            <p:nvPr/>
          </p:nvSpPr>
          <p:spPr>
            <a:xfrm flipH="false" flipV="false" rot="0">
              <a:off x="7333636" y="17724107"/>
              <a:ext cx="1093363" cy="1093363"/>
            </a:xfrm>
            <a:custGeom>
              <a:avLst/>
              <a:gdLst/>
              <a:ahLst/>
              <a:cxnLst/>
              <a:rect r="r" b="b" t="t" l="l"/>
              <a:pathLst>
                <a:path h="1093363" w="1093363">
                  <a:moveTo>
                    <a:pt x="0" y="0"/>
                  </a:moveTo>
                  <a:lnTo>
                    <a:pt x="1093362" y="0"/>
                  </a:lnTo>
                  <a:lnTo>
                    <a:pt x="1093362" y="1093362"/>
                  </a:lnTo>
                  <a:lnTo>
                    <a:pt x="0" y="1093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3690459" y="17724107"/>
              <a:ext cx="1093363" cy="1093363"/>
            </a:xfrm>
            <a:custGeom>
              <a:avLst/>
              <a:gdLst/>
              <a:ahLst/>
              <a:cxnLst/>
              <a:rect r="r" b="b" t="t" l="l"/>
              <a:pathLst>
                <a:path h="1093363" w="1093363">
                  <a:moveTo>
                    <a:pt x="0" y="0"/>
                  </a:moveTo>
                  <a:lnTo>
                    <a:pt x="1093363" y="0"/>
                  </a:lnTo>
                  <a:lnTo>
                    <a:pt x="1093363" y="1093362"/>
                  </a:lnTo>
                  <a:lnTo>
                    <a:pt x="0" y="1093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5281053" y="17735223"/>
              <a:ext cx="1556489" cy="1082246"/>
            </a:xfrm>
            <a:custGeom>
              <a:avLst/>
              <a:gdLst/>
              <a:ahLst/>
              <a:cxnLst/>
              <a:rect r="r" b="b" t="t" l="l"/>
              <a:pathLst>
                <a:path h="1082246" w="1556489">
                  <a:moveTo>
                    <a:pt x="0" y="0"/>
                  </a:moveTo>
                  <a:lnTo>
                    <a:pt x="1556489" y="0"/>
                  </a:lnTo>
                  <a:lnTo>
                    <a:pt x="1556489" y="1082246"/>
                  </a:lnTo>
                  <a:lnTo>
                    <a:pt x="0" y="1082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0E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0" y="6686614"/>
            <a:ext cx="11295846" cy="11295846"/>
          </a:xfrm>
          <a:custGeom>
            <a:avLst/>
            <a:gdLst/>
            <a:ahLst/>
            <a:cxnLst/>
            <a:rect r="r" b="b" t="t" l="l"/>
            <a:pathLst>
              <a:path h="11295846" w="11295846">
                <a:moveTo>
                  <a:pt x="0" y="0"/>
                </a:moveTo>
                <a:lnTo>
                  <a:pt x="11295846" y="0"/>
                </a:lnTo>
                <a:lnTo>
                  <a:pt x="11295846" y="11295846"/>
                </a:lnTo>
                <a:lnTo>
                  <a:pt x="0" y="112958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1058" y="9447272"/>
            <a:ext cx="8643891" cy="288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37"/>
              </a:lnSpc>
              <a:spcBef>
                <a:spcPct val="0"/>
              </a:spcBef>
            </a:pPr>
            <a:r>
              <a:rPr lang="en-US" b="true" sz="9531">
                <a:solidFill>
                  <a:srgbClr val="FFFFFF"/>
                </a:solidFill>
                <a:latin typeface="Sora Bold"/>
                <a:ea typeface="Sora Bold"/>
                <a:cs typeface="Sora Bold"/>
                <a:sym typeface="Sora Bold"/>
              </a:rPr>
              <a:t>Get the slides &amp; more!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21058" y="14382750"/>
            <a:ext cx="8643891" cy="131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6"/>
              </a:lnSpc>
            </a:pPr>
            <a:r>
              <a:rPr lang="en-US" sz="5156">
                <a:solidFill>
                  <a:srgbClr val="FFFFFF"/>
                </a:solidFill>
                <a:latin typeface="Sora Extra-Light"/>
                <a:ea typeface="Sora Extra-Light"/>
                <a:cs typeface="Sora Extra-Light"/>
                <a:sym typeface="Sora Extra-Light"/>
              </a:rPr>
              <a:t>available thru</a:t>
            </a:r>
          </a:p>
          <a:p>
            <a:pPr algn="ctr" marL="0" indent="0" lvl="0">
              <a:lnSpc>
                <a:spcPts val="5156"/>
              </a:lnSpc>
            </a:pPr>
            <a:r>
              <a:rPr lang="en-US" sz="5156">
                <a:solidFill>
                  <a:srgbClr val="FFFFFF"/>
                </a:solidFill>
                <a:latin typeface="Sora Extra-Light"/>
                <a:ea typeface="Sora Extra-Light"/>
                <a:cs typeface="Sora Extra-Light"/>
                <a:sym typeface="Sora Extra-Light"/>
              </a:rPr>
              <a:t>Monday, </a:t>
            </a:r>
            <a:r>
              <a:rPr lang="en-US" b="true" sz="5156">
                <a:solidFill>
                  <a:srgbClr val="FFDE59"/>
                </a:solidFill>
                <a:latin typeface="Sora Bold"/>
                <a:ea typeface="Sora Bold"/>
                <a:cs typeface="Sora Bold"/>
                <a:sym typeface="Sora Bold"/>
              </a:rPr>
              <a:t>December 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44848" y="18290472"/>
            <a:ext cx="17885304" cy="3017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2"/>
              </a:lnSpc>
            </a:pPr>
            <a:r>
              <a:rPr lang="en-US" sz="16009" b="true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vtns.io/20251204</a:t>
            </a:r>
          </a:p>
        </p:txBody>
      </p:sp>
    </p:spTree>
  </p:cSld>
  <p:clrMapOvr>
    <a:masterClrMapping/>
  </p:clrMapOvr>
  <p:transition spd="slow">
    <p:push dir="l"/>
  </p:transition>
</p:sld>
</file>

<file path=ppt/slides/slide35.xml><?xml version="1.0" encoding="utf-8"?>
<p:sld xmlns:p="http://schemas.openxmlformats.org/presentationml/2006/main" xmlns:a="http://schemas.openxmlformats.org/drawingml/2006/main" show="false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54947" y="8917938"/>
            <a:ext cx="12865106" cy="32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62"/>
              </a:lnSpc>
            </a:pPr>
            <a:r>
              <a:rPr lang="en-US" sz="19330" b="true">
                <a:solidFill>
                  <a:srgbClr val="FFDE59"/>
                </a:solidFill>
                <a:latin typeface="Sora Semi-Bold"/>
                <a:ea typeface="Sora Semi-Bold"/>
                <a:cs typeface="Sora Semi-Bold"/>
                <a:sym typeface="Sora Semi-Bold"/>
              </a:rPr>
              <a:t>Swipe File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69299" y="14797039"/>
            <a:ext cx="18636402" cy="80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1"/>
              </a:lnSpc>
            </a:pPr>
            <a:r>
              <a:rPr lang="en-US" sz="4815">
                <a:solidFill>
                  <a:srgbClr val="FFDE59"/>
                </a:solidFill>
                <a:latin typeface="Sora"/>
                <a:ea typeface="Sora"/>
                <a:cs typeface="Sora"/>
                <a:sym typeface="Sora"/>
              </a:rPr>
              <a:t>Slides to use in different scenarios (see slide title for details)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65298" y="11411988"/>
            <a:ext cx="7844405" cy="300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69"/>
              </a:lnSpc>
            </a:pPr>
            <a:r>
              <a:rPr lang="en-US" sz="16049">
                <a:solidFill>
                  <a:srgbClr val="FFDE59"/>
                </a:solidFill>
                <a:latin typeface="Consolas"/>
                <a:ea typeface="Consolas"/>
                <a:cs typeface="Consolas"/>
                <a:sym typeface="Consolas"/>
              </a:rPr>
              <a:t>Archive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DAG6AiODvJo</dc:identifier>
  <dcterms:modified xsi:type="dcterms:W3CDTF">2011-08-01T06:04:30Z</dcterms:modified>
  <cp:revision>1</cp:revision>
  <dc:title>SPFx 1.22's New Build System: What Every Developer Needs to Know - Gulp is out; Heft is in!</dc:title>
</cp:coreProperties>
</file>